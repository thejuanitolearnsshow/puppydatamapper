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6" r:id="rId2"/>
    <p:sldId id="272" r:id="rId3"/>
    <p:sldId id="257" r:id="rId4"/>
    <p:sldId id="271" r:id="rId5"/>
    <p:sldId id="258" r:id="rId6"/>
    <p:sldId id="267" r:id="rId7"/>
    <p:sldId id="268" r:id="rId8"/>
    <p:sldId id="265" r:id="rId9"/>
    <p:sldId id="260" r:id="rId10"/>
    <p:sldId id="259" r:id="rId11"/>
    <p:sldId id="261" r:id="rId12"/>
    <p:sldId id="262" r:id="rId13"/>
    <p:sldId id="269" r:id="rId14"/>
    <p:sldId id="270" r:id="rId15"/>
    <p:sldId id="263" r:id="rId16"/>
    <p:sldId id="264"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notesView">
  <p:normalViewPr showOutlineIcons="0">
    <p:restoredLeft sz="34578" autoAdjust="0"/>
    <p:restoredTop sz="86392" autoAdjust="0"/>
  </p:normalViewPr>
  <p:slideViewPr>
    <p:cSldViewPr snapToGrid="0">
      <p:cViewPr varScale="1">
        <p:scale>
          <a:sx n="82" d="100"/>
          <a:sy n="82" d="100"/>
        </p:scale>
        <p:origin x="60" y="452"/>
      </p:cViewPr>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p:scale>
          <a:sx n="85" d="100"/>
          <a:sy n="85" d="100"/>
        </p:scale>
        <p:origin x="3112" y="14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CD7CB6C-B0BC-4110-BAC2-53A8A31C10D6}" type="doc">
      <dgm:prSet loTypeId="urn:microsoft.com/office/officeart/2008/layout/LinedList" loCatId="list" qsTypeId="urn:microsoft.com/office/officeart/2005/8/quickstyle/simple1" qsCatId="simple" csTypeId="urn:microsoft.com/office/officeart/2005/8/colors/colorful2" csCatId="colorful"/>
      <dgm:spPr/>
      <dgm:t>
        <a:bodyPr/>
        <a:lstStyle/>
        <a:p>
          <a:endParaRPr lang="en-US"/>
        </a:p>
      </dgm:t>
    </dgm:pt>
    <dgm:pt modelId="{9F22FD91-BFDF-478E-8688-D71503BE8220}">
      <dgm:prSet/>
      <dgm:spPr/>
      <dgm:t>
        <a:bodyPr/>
        <a:lstStyle/>
        <a:p>
          <a:r>
            <a:rPr lang="en-US"/>
            <a:t>PowerFX is a popular, powerful and business friendly language</a:t>
          </a:r>
        </a:p>
      </dgm:t>
    </dgm:pt>
    <dgm:pt modelId="{4D9F0E45-37FC-4E37-A591-7784C215E823}" type="parTrans" cxnId="{0B1DC64C-B731-44C3-A689-BE3552F5141B}">
      <dgm:prSet/>
      <dgm:spPr/>
      <dgm:t>
        <a:bodyPr/>
        <a:lstStyle/>
        <a:p>
          <a:endParaRPr lang="en-US"/>
        </a:p>
      </dgm:t>
    </dgm:pt>
    <dgm:pt modelId="{862DDF67-7B07-4156-A1B6-14FA0C5D4D18}" type="sibTrans" cxnId="{0B1DC64C-B731-44C3-A689-BE3552F5141B}">
      <dgm:prSet/>
      <dgm:spPr/>
      <dgm:t>
        <a:bodyPr/>
        <a:lstStyle/>
        <a:p>
          <a:endParaRPr lang="en-US"/>
        </a:p>
      </dgm:t>
    </dgm:pt>
    <dgm:pt modelId="{C09FB9AA-EDA5-4A06-B215-2E1FF6995028}">
      <dgm:prSet/>
      <dgm:spPr/>
      <dgm:t>
        <a:bodyPr/>
        <a:lstStyle/>
        <a:p>
          <a:r>
            <a:rPr lang="en-US"/>
            <a:t>Microsoft provides an interpreter for .NET</a:t>
          </a:r>
        </a:p>
      </dgm:t>
    </dgm:pt>
    <dgm:pt modelId="{E7B05BA3-DA5D-4684-A4C5-78EE3F67565D}" type="parTrans" cxnId="{5966FA71-ADAB-43F5-85CD-712FADE0F724}">
      <dgm:prSet/>
      <dgm:spPr/>
      <dgm:t>
        <a:bodyPr/>
        <a:lstStyle/>
        <a:p>
          <a:endParaRPr lang="en-US"/>
        </a:p>
      </dgm:t>
    </dgm:pt>
    <dgm:pt modelId="{0E5F0E21-752E-45B0-83C1-4D661A32833F}" type="sibTrans" cxnId="{5966FA71-ADAB-43F5-85CD-712FADE0F724}">
      <dgm:prSet/>
      <dgm:spPr/>
      <dgm:t>
        <a:bodyPr/>
        <a:lstStyle/>
        <a:p>
          <a:endParaRPr lang="en-US"/>
        </a:p>
      </dgm:t>
    </dgm:pt>
    <dgm:pt modelId="{D4AA6050-A446-4205-9F26-6392DBC9FF76}">
      <dgm:prSet/>
      <dgm:spPr/>
      <dgm:t>
        <a:bodyPr/>
        <a:lstStyle/>
        <a:p>
          <a:r>
            <a:rPr lang="en-US"/>
            <a:t>Your app can evaluate PowerFX formulas at runtime</a:t>
          </a:r>
        </a:p>
      </dgm:t>
    </dgm:pt>
    <dgm:pt modelId="{24B04525-C14F-4F54-85F6-0C79937A557C}" type="parTrans" cxnId="{1A0D5AC6-8A8C-43A2-9EAF-683992ED6DEC}">
      <dgm:prSet/>
      <dgm:spPr/>
      <dgm:t>
        <a:bodyPr/>
        <a:lstStyle/>
        <a:p>
          <a:endParaRPr lang="en-US"/>
        </a:p>
      </dgm:t>
    </dgm:pt>
    <dgm:pt modelId="{8053691E-B2AD-4E60-ACE3-BE1D6324FCE1}" type="sibTrans" cxnId="{1A0D5AC6-8A8C-43A2-9EAF-683992ED6DEC}">
      <dgm:prSet/>
      <dgm:spPr/>
      <dgm:t>
        <a:bodyPr/>
        <a:lstStyle/>
        <a:p>
          <a:endParaRPr lang="en-US"/>
        </a:p>
      </dgm:t>
    </dgm:pt>
    <dgm:pt modelId="{8572A613-82D9-49CE-BC5E-88C879995121}" type="pres">
      <dgm:prSet presAssocID="{ACD7CB6C-B0BC-4110-BAC2-53A8A31C10D6}" presName="vert0" presStyleCnt="0">
        <dgm:presLayoutVars>
          <dgm:dir/>
          <dgm:animOne val="branch"/>
          <dgm:animLvl val="lvl"/>
        </dgm:presLayoutVars>
      </dgm:prSet>
      <dgm:spPr/>
    </dgm:pt>
    <dgm:pt modelId="{BA4F1152-9D73-4CFC-90B3-FB12FD108D6B}" type="pres">
      <dgm:prSet presAssocID="{9F22FD91-BFDF-478E-8688-D71503BE8220}" presName="thickLine" presStyleLbl="alignNode1" presStyleIdx="0" presStyleCnt="3"/>
      <dgm:spPr/>
    </dgm:pt>
    <dgm:pt modelId="{83C8EEDD-2C5A-43AE-BB70-01BB5946A89E}" type="pres">
      <dgm:prSet presAssocID="{9F22FD91-BFDF-478E-8688-D71503BE8220}" presName="horz1" presStyleCnt="0"/>
      <dgm:spPr/>
    </dgm:pt>
    <dgm:pt modelId="{34386AE2-F37D-4B72-A1D5-AAAC37207C6C}" type="pres">
      <dgm:prSet presAssocID="{9F22FD91-BFDF-478E-8688-D71503BE8220}" presName="tx1" presStyleLbl="revTx" presStyleIdx="0" presStyleCnt="3"/>
      <dgm:spPr/>
    </dgm:pt>
    <dgm:pt modelId="{5D5AB14E-2257-4689-8CD0-C264C0519CFC}" type="pres">
      <dgm:prSet presAssocID="{9F22FD91-BFDF-478E-8688-D71503BE8220}" presName="vert1" presStyleCnt="0"/>
      <dgm:spPr/>
    </dgm:pt>
    <dgm:pt modelId="{A414CF4D-6425-4C55-9569-45B86971CFDA}" type="pres">
      <dgm:prSet presAssocID="{C09FB9AA-EDA5-4A06-B215-2E1FF6995028}" presName="thickLine" presStyleLbl="alignNode1" presStyleIdx="1" presStyleCnt="3"/>
      <dgm:spPr/>
    </dgm:pt>
    <dgm:pt modelId="{25DA8EA6-071E-4658-8443-C16190C78661}" type="pres">
      <dgm:prSet presAssocID="{C09FB9AA-EDA5-4A06-B215-2E1FF6995028}" presName="horz1" presStyleCnt="0"/>
      <dgm:spPr/>
    </dgm:pt>
    <dgm:pt modelId="{90575A51-9BC9-4CB5-948C-C6297AB75179}" type="pres">
      <dgm:prSet presAssocID="{C09FB9AA-EDA5-4A06-B215-2E1FF6995028}" presName="tx1" presStyleLbl="revTx" presStyleIdx="1" presStyleCnt="3"/>
      <dgm:spPr/>
    </dgm:pt>
    <dgm:pt modelId="{B4DA2838-E3D0-4F5D-9DC7-4187DCFEB259}" type="pres">
      <dgm:prSet presAssocID="{C09FB9AA-EDA5-4A06-B215-2E1FF6995028}" presName="vert1" presStyleCnt="0"/>
      <dgm:spPr/>
    </dgm:pt>
    <dgm:pt modelId="{E69807BF-576B-4452-901C-A24836D87E64}" type="pres">
      <dgm:prSet presAssocID="{D4AA6050-A446-4205-9F26-6392DBC9FF76}" presName="thickLine" presStyleLbl="alignNode1" presStyleIdx="2" presStyleCnt="3"/>
      <dgm:spPr/>
    </dgm:pt>
    <dgm:pt modelId="{171C75A0-BFCE-4A07-A1DA-993745610395}" type="pres">
      <dgm:prSet presAssocID="{D4AA6050-A446-4205-9F26-6392DBC9FF76}" presName="horz1" presStyleCnt="0"/>
      <dgm:spPr/>
    </dgm:pt>
    <dgm:pt modelId="{BAC8619D-CD0D-48E6-981E-7390C29F4C42}" type="pres">
      <dgm:prSet presAssocID="{D4AA6050-A446-4205-9F26-6392DBC9FF76}" presName="tx1" presStyleLbl="revTx" presStyleIdx="2" presStyleCnt="3"/>
      <dgm:spPr/>
    </dgm:pt>
    <dgm:pt modelId="{F5F7618D-30CD-4A86-8BB6-9E0274C32B44}" type="pres">
      <dgm:prSet presAssocID="{D4AA6050-A446-4205-9F26-6392DBC9FF76}" presName="vert1" presStyleCnt="0"/>
      <dgm:spPr/>
    </dgm:pt>
  </dgm:ptLst>
  <dgm:cxnLst>
    <dgm:cxn modelId="{39E9B038-37C3-4DF3-9AF7-6AAC89C81E7C}" type="presOf" srcId="{ACD7CB6C-B0BC-4110-BAC2-53A8A31C10D6}" destId="{8572A613-82D9-49CE-BC5E-88C879995121}" srcOrd="0" destOrd="0" presId="urn:microsoft.com/office/officeart/2008/layout/LinedList"/>
    <dgm:cxn modelId="{0B1DC64C-B731-44C3-A689-BE3552F5141B}" srcId="{ACD7CB6C-B0BC-4110-BAC2-53A8A31C10D6}" destId="{9F22FD91-BFDF-478E-8688-D71503BE8220}" srcOrd="0" destOrd="0" parTransId="{4D9F0E45-37FC-4E37-A591-7784C215E823}" sibTransId="{862DDF67-7B07-4156-A1B6-14FA0C5D4D18}"/>
    <dgm:cxn modelId="{5966FA71-ADAB-43F5-85CD-712FADE0F724}" srcId="{ACD7CB6C-B0BC-4110-BAC2-53A8A31C10D6}" destId="{C09FB9AA-EDA5-4A06-B215-2E1FF6995028}" srcOrd="1" destOrd="0" parTransId="{E7B05BA3-DA5D-4684-A4C5-78EE3F67565D}" sibTransId="{0E5F0E21-752E-45B0-83C1-4D661A32833F}"/>
    <dgm:cxn modelId="{B593DC7D-690E-4DB8-AA6A-4FA51FD01AD6}" type="presOf" srcId="{9F22FD91-BFDF-478E-8688-D71503BE8220}" destId="{34386AE2-F37D-4B72-A1D5-AAAC37207C6C}" srcOrd="0" destOrd="0" presId="urn:microsoft.com/office/officeart/2008/layout/LinedList"/>
    <dgm:cxn modelId="{266CE492-0BBF-4248-8515-B479046CDB21}" type="presOf" srcId="{D4AA6050-A446-4205-9F26-6392DBC9FF76}" destId="{BAC8619D-CD0D-48E6-981E-7390C29F4C42}" srcOrd="0" destOrd="0" presId="urn:microsoft.com/office/officeart/2008/layout/LinedList"/>
    <dgm:cxn modelId="{1A0D5AC6-8A8C-43A2-9EAF-683992ED6DEC}" srcId="{ACD7CB6C-B0BC-4110-BAC2-53A8A31C10D6}" destId="{D4AA6050-A446-4205-9F26-6392DBC9FF76}" srcOrd="2" destOrd="0" parTransId="{24B04525-C14F-4F54-85F6-0C79937A557C}" sibTransId="{8053691E-B2AD-4E60-ACE3-BE1D6324FCE1}"/>
    <dgm:cxn modelId="{B3ED93F7-0E40-4AF5-86AC-23E4BAB9EC7E}" type="presOf" srcId="{C09FB9AA-EDA5-4A06-B215-2E1FF6995028}" destId="{90575A51-9BC9-4CB5-948C-C6297AB75179}" srcOrd="0" destOrd="0" presId="urn:microsoft.com/office/officeart/2008/layout/LinedList"/>
    <dgm:cxn modelId="{941F44F0-14AF-49EB-9E52-6D29151F5736}" type="presParOf" srcId="{8572A613-82D9-49CE-BC5E-88C879995121}" destId="{BA4F1152-9D73-4CFC-90B3-FB12FD108D6B}" srcOrd="0" destOrd="0" presId="urn:microsoft.com/office/officeart/2008/layout/LinedList"/>
    <dgm:cxn modelId="{EAEFB035-AC2E-45D5-81E1-D7E454C59682}" type="presParOf" srcId="{8572A613-82D9-49CE-BC5E-88C879995121}" destId="{83C8EEDD-2C5A-43AE-BB70-01BB5946A89E}" srcOrd="1" destOrd="0" presId="urn:microsoft.com/office/officeart/2008/layout/LinedList"/>
    <dgm:cxn modelId="{850C83FC-900D-427B-80B7-DEE6F26E7080}" type="presParOf" srcId="{83C8EEDD-2C5A-43AE-BB70-01BB5946A89E}" destId="{34386AE2-F37D-4B72-A1D5-AAAC37207C6C}" srcOrd="0" destOrd="0" presId="urn:microsoft.com/office/officeart/2008/layout/LinedList"/>
    <dgm:cxn modelId="{618D7578-CFEA-4E1C-9FDB-08C23401B259}" type="presParOf" srcId="{83C8EEDD-2C5A-43AE-BB70-01BB5946A89E}" destId="{5D5AB14E-2257-4689-8CD0-C264C0519CFC}" srcOrd="1" destOrd="0" presId="urn:microsoft.com/office/officeart/2008/layout/LinedList"/>
    <dgm:cxn modelId="{AD6B9125-18E6-440A-8E4A-732AE2DAC9C7}" type="presParOf" srcId="{8572A613-82D9-49CE-BC5E-88C879995121}" destId="{A414CF4D-6425-4C55-9569-45B86971CFDA}" srcOrd="2" destOrd="0" presId="urn:microsoft.com/office/officeart/2008/layout/LinedList"/>
    <dgm:cxn modelId="{2EB61467-1756-40FA-891C-BA7DC81BBCBD}" type="presParOf" srcId="{8572A613-82D9-49CE-BC5E-88C879995121}" destId="{25DA8EA6-071E-4658-8443-C16190C78661}" srcOrd="3" destOrd="0" presId="urn:microsoft.com/office/officeart/2008/layout/LinedList"/>
    <dgm:cxn modelId="{6526590D-C45F-4A41-B538-0DFD92C91FBD}" type="presParOf" srcId="{25DA8EA6-071E-4658-8443-C16190C78661}" destId="{90575A51-9BC9-4CB5-948C-C6297AB75179}" srcOrd="0" destOrd="0" presId="urn:microsoft.com/office/officeart/2008/layout/LinedList"/>
    <dgm:cxn modelId="{BB0FF82B-7687-4F28-8FFF-68240A1233CA}" type="presParOf" srcId="{25DA8EA6-071E-4658-8443-C16190C78661}" destId="{B4DA2838-E3D0-4F5D-9DC7-4187DCFEB259}" srcOrd="1" destOrd="0" presId="urn:microsoft.com/office/officeart/2008/layout/LinedList"/>
    <dgm:cxn modelId="{13507CB6-0B73-4635-966E-537A43F69542}" type="presParOf" srcId="{8572A613-82D9-49CE-BC5E-88C879995121}" destId="{E69807BF-576B-4452-901C-A24836D87E64}" srcOrd="4" destOrd="0" presId="urn:microsoft.com/office/officeart/2008/layout/LinedList"/>
    <dgm:cxn modelId="{C8CFC853-6F3F-4C90-9C97-F0B543CE5E27}" type="presParOf" srcId="{8572A613-82D9-49CE-BC5E-88C879995121}" destId="{171C75A0-BFCE-4A07-A1DA-993745610395}" srcOrd="5" destOrd="0" presId="urn:microsoft.com/office/officeart/2008/layout/LinedList"/>
    <dgm:cxn modelId="{582FE453-DAB1-43F4-9AAB-6F33753C22DA}" type="presParOf" srcId="{171C75A0-BFCE-4A07-A1DA-993745610395}" destId="{BAC8619D-CD0D-48E6-981E-7390C29F4C42}" srcOrd="0" destOrd="0" presId="urn:microsoft.com/office/officeart/2008/layout/LinedList"/>
    <dgm:cxn modelId="{343DCA76-513B-4CDB-9144-CF03FB39F37D}" type="presParOf" srcId="{171C75A0-BFCE-4A07-A1DA-993745610395}" destId="{F5F7618D-30CD-4A86-8BB6-9E0274C32B44}"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A4F1152-9D73-4CFC-90B3-FB12FD108D6B}">
      <dsp:nvSpPr>
        <dsp:cNvPr id="0" name=""/>
        <dsp:cNvSpPr/>
      </dsp:nvSpPr>
      <dsp:spPr>
        <a:xfrm>
          <a:off x="0" y="2703"/>
          <a:ext cx="6900512" cy="0"/>
        </a:xfrm>
        <a:prstGeom prst="line">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4386AE2-F37D-4B72-A1D5-AAAC37207C6C}">
      <dsp:nvSpPr>
        <dsp:cNvPr id="0" name=""/>
        <dsp:cNvSpPr/>
      </dsp:nvSpPr>
      <dsp:spPr>
        <a:xfrm>
          <a:off x="0" y="2703"/>
          <a:ext cx="6900512" cy="184357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8590" tIns="148590" rIns="148590" bIns="148590" numCol="1" spcCol="1270" anchor="t" anchorCtr="0">
          <a:noAutofit/>
        </a:bodyPr>
        <a:lstStyle/>
        <a:p>
          <a:pPr marL="0" lvl="0" indent="0" algn="l" defTabSz="1733550">
            <a:lnSpc>
              <a:spcPct val="90000"/>
            </a:lnSpc>
            <a:spcBef>
              <a:spcPct val="0"/>
            </a:spcBef>
            <a:spcAft>
              <a:spcPct val="35000"/>
            </a:spcAft>
            <a:buNone/>
          </a:pPr>
          <a:r>
            <a:rPr lang="en-US" sz="3900" kern="1200"/>
            <a:t>PowerFX is a popular, powerful and business friendly language</a:t>
          </a:r>
        </a:p>
      </dsp:txBody>
      <dsp:txXfrm>
        <a:off x="0" y="2703"/>
        <a:ext cx="6900512" cy="1843578"/>
      </dsp:txXfrm>
    </dsp:sp>
    <dsp:sp modelId="{A414CF4D-6425-4C55-9569-45B86971CFDA}">
      <dsp:nvSpPr>
        <dsp:cNvPr id="0" name=""/>
        <dsp:cNvSpPr/>
      </dsp:nvSpPr>
      <dsp:spPr>
        <a:xfrm>
          <a:off x="0" y="1846281"/>
          <a:ext cx="6900512" cy="0"/>
        </a:xfrm>
        <a:prstGeom prst="line">
          <a:avLst/>
        </a:prstGeom>
        <a:solidFill>
          <a:schemeClr val="accent2">
            <a:hueOff val="3221807"/>
            <a:satOff val="-9246"/>
            <a:lumOff val="-14805"/>
            <a:alphaOff val="0"/>
          </a:schemeClr>
        </a:solidFill>
        <a:ln w="19050" cap="flat" cmpd="sng" algn="ctr">
          <a:solidFill>
            <a:schemeClr val="accent2">
              <a:hueOff val="3221807"/>
              <a:satOff val="-9246"/>
              <a:lumOff val="-1480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0575A51-9BC9-4CB5-948C-C6297AB75179}">
      <dsp:nvSpPr>
        <dsp:cNvPr id="0" name=""/>
        <dsp:cNvSpPr/>
      </dsp:nvSpPr>
      <dsp:spPr>
        <a:xfrm>
          <a:off x="0" y="1846281"/>
          <a:ext cx="6900512" cy="184357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8590" tIns="148590" rIns="148590" bIns="148590" numCol="1" spcCol="1270" anchor="t" anchorCtr="0">
          <a:noAutofit/>
        </a:bodyPr>
        <a:lstStyle/>
        <a:p>
          <a:pPr marL="0" lvl="0" indent="0" algn="l" defTabSz="1733550">
            <a:lnSpc>
              <a:spcPct val="90000"/>
            </a:lnSpc>
            <a:spcBef>
              <a:spcPct val="0"/>
            </a:spcBef>
            <a:spcAft>
              <a:spcPct val="35000"/>
            </a:spcAft>
            <a:buNone/>
          </a:pPr>
          <a:r>
            <a:rPr lang="en-US" sz="3900" kern="1200"/>
            <a:t>Microsoft provides an interpreter for .NET</a:t>
          </a:r>
        </a:p>
      </dsp:txBody>
      <dsp:txXfrm>
        <a:off x="0" y="1846281"/>
        <a:ext cx="6900512" cy="1843578"/>
      </dsp:txXfrm>
    </dsp:sp>
    <dsp:sp modelId="{E69807BF-576B-4452-901C-A24836D87E64}">
      <dsp:nvSpPr>
        <dsp:cNvPr id="0" name=""/>
        <dsp:cNvSpPr/>
      </dsp:nvSpPr>
      <dsp:spPr>
        <a:xfrm>
          <a:off x="0" y="3689859"/>
          <a:ext cx="6900512" cy="0"/>
        </a:xfrm>
        <a:prstGeom prst="line">
          <a:avLst/>
        </a:prstGeom>
        <a:solidFill>
          <a:schemeClr val="accent2">
            <a:hueOff val="6443614"/>
            <a:satOff val="-18493"/>
            <a:lumOff val="-29609"/>
            <a:alphaOff val="0"/>
          </a:schemeClr>
        </a:solidFill>
        <a:ln w="19050" cap="flat" cmpd="sng" algn="ctr">
          <a:solidFill>
            <a:schemeClr val="accent2">
              <a:hueOff val="6443614"/>
              <a:satOff val="-18493"/>
              <a:lumOff val="-29609"/>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AC8619D-CD0D-48E6-981E-7390C29F4C42}">
      <dsp:nvSpPr>
        <dsp:cNvPr id="0" name=""/>
        <dsp:cNvSpPr/>
      </dsp:nvSpPr>
      <dsp:spPr>
        <a:xfrm>
          <a:off x="0" y="3689859"/>
          <a:ext cx="6900512" cy="184357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8590" tIns="148590" rIns="148590" bIns="148590" numCol="1" spcCol="1270" anchor="t" anchorCtr="0">
          <a:noAutofit/>
        </a:bodyPr>
        <a:lstStyle/>
        <a:p>
          <a:pPr marL="0" lvl="0" indent="0" algn="l" defTabSz="1733550">
            <a:lnSpc>
              <a:spcPct val="90000"/>
            </a:lnSpc>
            <a:spcBef>
              <a:spcPct val="0"/>
            </a:spcBef>
            <a:spcAft>
              <a:spcPct val="35000"/>
            </a:spcAft>
            <a:buNone/>
          </a:pPr>
          <a:r>
            <a:rPr lang="en-US" sz="3900" kern="1200"/>
            <a:t>Your app can evaluate PowerFX formulas at runtime</a:t>
          </a:r>
        </a:p>
      </dsp:txBody>
      <dsp:txXfrm>
        <a:off x="0" y="3689859"/>
        <a:ext cx="6900512" cy="1843578"/>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3F0FD94-F7CE-4D08-B49E-5E530976B685}" type="datetimeFigureOut">
              <a:rPr lang="en-US" smtClean="0"/>
              <a:t>2/28/2026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3FADD39-AB8A-4278-99D9-40CD8D745BA1}" type="slidenum">
              <a:rPr lang="en-US" smtClean="0"/>
              <a:t>‹#›</a:t>
            </a:fld>
            <a:endParaRPr lang="en-US"/>
          </a:p>
        </p:txBody>
      </p:sp>
    </p:spTree>
    <p:extLst>
      <p:ext uri="{BB962C8B-B14F-4D97-AF65-F5344CB8AC3E}">
        <p14:creationId xmlns:p14="http://schemas.microsoft.com/office/powerpoint/2010/main" val="32093618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3FADD39-AB8A-4278-99D9-40CD8D745BA1}" type="slidenum">
              <a:rPr lang="en-US" smtClean="0"/>
              <a:t>1</a:t>
            </a:fld>
            <a:endParaRPr lang="en-US"/>
          </a:p>
        </p:txBody>
      </p:sp>
    </p:spTree>
    <p:extLst>
      <p:ext uri="{BB962C8B-B14F-4D97-AF65-F5344CB8AC3E}">
        <p14:creationId xmlns:p14="http://schemas.microsoft.com/office/powerpoint/2010/main" val="29197106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name is Juan Tarquino, I am software developer with 20 years of experience, mostly .NET and SQL, but I also did some Ruby and Java and even a dialect of Cobol earlier in my career.</a:t>
            </a:r>
          </a:p>
          <a:p>
            <a:r>
              <a:rPr lang="en-US" dirty="0"/>
              <a:t>Here is my linked in link, if you wish to contact me with questions or comments after the conference, or if you would just like to connect.</a:t>
            </a:r>
          </a:p>
          <a:p>
            <a:r>
              <a:rPr lang="en-US" dirty="0"/>
              <a:t>The sample GitHub repository for this session is at this link (QR code).</a:t>
            </a:r>
          </a:p>
          <a:p>
            <a:r>
              <a:rPr lang="en-US" dirty="0"/>
              <a:t>I know is hard to believe but I was not born in this country, so I do have an accent. Please feel free to ask me to repeat or to clarify things if there is something I am not explaining clearly. I will not be offended at all.</a:t>
            </a:r>
          </a:p>
        </p:txBody>
      </p:sp>
      <p:sp>
        <p:nvSpPr>
          <p:cNvPr id="4" name="Slide Number Placeholder 3"/>
          <p:cNvSpPr>
            <a:spLocks noGrp="1"/>
          </p:cNvSpPr>
          <p:nvPr>
            <p:ph type="sldNum" sz="quarter" idx="5"/>
          </p:nvPr>
        </p:nvSpPr>
        <p:spPr/>
        <p:txBody>
          <a:bodyPr/>
          <a:lstStyle/>
          <a:p>
            <a:fld id="{CDDD3684-6E52-4019-8D61-A9B0BAC0DBD6}" type="slidenum">
              <a:rPr lang="en-US" smtClean="0"/>
              <a:t>2</a:t>
            </a:fld>
            <a:endParaRPr lang="en-US"/>
          </a:p>
        </p:txBody>
      </p:sp>
    </p:spTree>
    <p:extLst>
      <p:ext uri="{BB962C8B-B14F-4D97-AF65-F5344CB8AC3E}">
        <p14:creationId xmlns:p14="http://schemas.microsoft.com/office/powerpoint/2010/main" val="24696178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we will talk about how to use </a:t>
            </a:r>
            <a:r>
              <a:rPr lang="en-US" dirty="0" err="1"/>
              <a:t>PowerFX</a:t>
            </a:r>
            <a:r>
              <a:rPr lang="en-US" dirty="0"/>
              <a:t> from a .NET app. But before we move to that we will first go through a pretend scenario that will describe a problem that many Dev teams in the enterprise face.</a:t>
            </a:r>
          </a:p>
          <a:p>
            <a:r>
              <a:rPr lang="en-US" dirty="0"/>
              <a:t>We will then introduce what </a:t>
            </a:r>
            <a:r>
              <a:rPr lang="en-US" dirty="0" err="1"/>
              <a:t>PowerFX</a:t>
            </a:r>
            <a:r>
              <a:rPr lang="en-US" dirty="0"/>
              <a:t> is and how it can be a solution to the problem stated. </a:t>
            </a:r>
          </a:p>
          <a:p>
            <a:r>
              <a:rPr lang="en-US" dirty="0"/>
              <a:t>We will then move to how we can embed a </a:t>
            </a:r>
            <a:r>
              <a:rPr lang="en-US" dirty="0" err="1"/>
              <a:t>PowerFX</a:t>
            </a:r>
            <a:r>
              <a:rPr lang="en-US" dirty="0"/>
              <a:t> </a:t>
            </a:r>
            <a:r>
              <a:rPr lang="en-US" dirty="0" err="1"/>
              <a:t>interpereter</a:t>
            </a:r>
            <a:r>
              <a:rPr lang="en-US" dirty="0"/>
              <a:t> from a </a:t>
            </a:r>
            <a:r>
              <a:rPr lang="en-US" dirty="0" err="1"/>
              <a:t>.net</a:t>
            </a:r>
            <a:r>
              <a:rPr lang="en-US" dirty="0"/>
              <a:t> app in order to run </a:t>
            </a:r>
            <a:r>
              <a:rPr lang="en-US" dirty="0" err="1"/>
              <a:t>PowerFX</a:t>
            </a:r>
            <a:r>
              <a:rPr lang="en-US" dirty="0"/>
              <a:t> formulas from .NET.</a:t>
            </a:r>
          </a:p>
          <a:p>
            <a:r>
              <a:rPr lang="en-US" dirty="0"/>
              <a:t>Finally, we will explore ways we can extend </a:t>
            </a:r>
            <a:r>
              <a:rPr lang="en-US" dirty="0" err="1"/>
              <a:t>PowerFX</a:t>
            </a:r>
            <a:r>
              <a:rPr lang="en-US" dirty="0"/>
              <a:t> by creating custom functions in .NET that can be called from </a:t>
            </a:r>
            <a:r>
              <a:rPr lang="en-US" dirty="0" err="1"/>
              <a:t>PowerFX</a:t>
            </a:r>
            <a:r>
              <a:rPr lang="en-US" dirty="0"/>
              <a:t>.</a:t>
            </a:r>
          </a:p>
        </p:txBody>
      </p:sp>
      <p:sp>
        <p:nvSpPr>
          <p:cNvPr id="4" name="Slide Number Placeholder 3"/>
          <p:cNvSpPr>
            <a:spLocks noGrp="1"/>
          </p:cNvSpPr>
          <p:nvPr>
            <p:ph type="sldNum" sz="quarter" idx="5"/>
          </p:nvPr>
        </p:nvSpPr>
        <p:spPr/>
        <p:txBody>
          <a:bodyPr/>
          <a:lstStyle/>
          <a:p>
            <a:fld id="{A3FADD39-AB8A-4278-99D9-40CD8D745BA1}" type="slidenum">
              <a:rPr lang="en-US" smtClean="0"/>
              <a:t>3</a:t>
            </a:fld>
            <a:endParaRPr lang="en-US"/>
          </a:p>
        </p:txBody>
      </p:sp>
    </p:spTree>
    <p:extLst>
      <p:ext uri="{BB962C8B-B14F-4D97-AF65-F5344CB8AC3E}">
        <p14:creationId xmlns:p14="http://schemas.microsoft.com/office/powerpoint/2010/main" val="15148236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start our session with a story abut a pretend company and a </a:t>
            </a:r>
            <a:r>
              <a:rPr lang="en-US" dirty="0" err="1"/>
              <a:t>a</a:t>
            </a:r>
            <a:r>
              <a:rPr lang="en-US" dirty="0"/>
              <a:t> fake dev team. This story will help us frame a problem that </a:t>
            </a:r>
            <a:r>
              <a:rPr lang="en-US" dirty="0" err="1"/>
              <a:t>PowerFX</a:t>
            </a:r>
            <a:r>
              <a:rPr lang="en-US" dirty="0"/>
              <a:t> is a good candidate to solve.</a:t>
            </a:r>
          </a:p>
          <a:p>
            <a:endParaRPr lang="en-US" dirty="0"/>
          </a:p>
          <a:p>
            <a:r>
              <a:rPr lang="en-US" dirty="0"/>
              <a:t>Our pretend enterprise is </a:t>
            </a:r>
            <a:r>
              <a:rPr lang="en-US" dirty="0" err="1"/>
              <a:t>Pizzas’R’Us</a:t>
            </a:r>
            <a:r>
              <a:rPr lang="en-US" dirty="0"/>
              <a:t>. A small but profitable company, trying to be as nimble as possible. They provide pizza services to restaurants and super-markets.</a:t>
            </a:r>
          </a:p>
        </p:txBody>
      </p:sp>
      <p:sp>
        <p:nvSpPr>
          <p:cNvPr id="4" name="Slide Number Placeholder 3"/>
          <p:cNvSpPr>
            <a:spLocks noGrp="1"/>
          </p:cNvSpPr>
          <p:nvPr>
            <p:ph type="sldNum" sz="quarter" idx="5"/>
          </p:nvPr>
        </p:nvSpPr>
        <p:spPr/>
        <p:txBody>
          <a:bodyPr/>
          <a:lstStyle/>
          <a:p>
            <a:fld id="{CDDD3684-6E52-4019-8D61-A9B0BAC0DBD6}" type="slidenum">
              <a:rPr lang="en-US" smtClean="0"/>
              <a:t>4</a:t>
            </a:fld>
            <a:endParaRPr lang="en-US"/>
          </a:p>
        </p:txBody>
      </p:sp>
    </p:spTree>
    <p:extLst>
      <p:ext uri="{BB962C8B-B14F-4D97-AF65-F5344CB8AC3E}">
        <p14:creationId xmlns:p14="http://schemas.microsoft.com/office/powerpoint/2010/main" val="24866480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Pizza’r’us</a:t>
            </a:r>
            <a:r>
              <a:rPr lang="en-US" dirty="0"/>
              <a:t> has a small dev team led by Alexandria. Alexandria is great .NET developer, and her talent has helped the business units achieve many of their goals via the custom apps and jobs she has created for them.</a:t>
            </a:r>
          </a:p>
          <a:p>
            <a:r>
              <a:rPr lang="en-US" dirty="0"/>
              <a:t>Because of the competitive business environment, the business units have been busy asking Alexandria for changes and new </a:t>
            </a:r>
            <a:r>
              <a:rPr lang="en-US" dirty="0" err="1"/>
              <a:t>feaures</a:t>
            </a:r>
            <a:r>
              <a:rPr lang="en-US" dirty="0"/>
              <a:t>. </a:t>
            </a:r>
          </a:p>
          <a:p>
            <a:r>
              <a:rPr lang="en-US" dirty="0"/>
              <a:t>Alexandria has a great reputation with the business side, but she sometimes feels like the bottleneck and wishes their was a way to make those changes faster or for another team to be able to help with the changes.</a:t>
            </a:r>
          </a:p>
          <a:p>
            <a:endParaRPr lang="en-US" dirty="0"/>
          </a:p>
          <a:p>
            <a:r>
              <a:rPr lang="en-US" dirty="0"/>
              <a:t>She notices that the biggest part of those changes have been changes to business rules, as the business is trying to evolve their tactics to gain a competitive advantage.</a:t>
            </a:r>
          </a:p>
          <a:p>
            <a:r>
              <a:rPr lang="en-US" dirty="0"/>
              <a:t> </a:t>
            </a:r>
          </a:p>
        </p:txBody>
      </p:sp>
      <p:sp>
        <p:nvSpPr>
          <p:cNvPr id="4" name="Slide Number Placeholder 3"/>
          <p:cNvSpPr>
            <a:spLocks noGrp="1"/>
          </p:cNvSpPr>
          <p:nvPr>
            <p:ph type="sldNum" sz="quarter" idx="5"/>
          </p:nvPr>
        </p:nvSpPr>
        <p:spPr/>
        <p:txBody>
          <a:bodyPr/>
          <a:lstStyle/>
          <a:p>
            <a:fld id="{A3FADD39-AB8A-4278-99D9-40CD8D745BA1}" type="slidenum">
              <a:rPr lang="en-US" smtClean="0"/>
              <a:t>5</a:t>
            </a:fld>
            <a:endParaRPr lang="en-US"/>
          </a:p>
        </p:txBody>
      </p:sp>
    </p:spTree>
    <p:extLst>
      <p:ext uri="{BB962C8B-B14F-4D97-AF65-F5344CB8AC3E}">
        <p14:creationId xmlns:p14="http://schemas.microsoft.com/office/powerpoint/2010/main" val="6763356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3FADD39-AB8A-4278-99D9-40CD8D745BA1}" type="slidenum">
              <a:rPr lang="en-US" smtClean="0"/>
              <a:t>6</a:t>
            </a:fld>
            <a:endParaRPr lang="en-US"/>
          </a:p>
        </p:txBody>
      </p:sp>
    </p:spTree>
    <p:extLst>
      <p:ext uri="{BB962C8B-B14F-4D97-AF65-F5344CB8AC3E}">
        <p14:creationId xmlns:p14="http://schemas.microsoft.com/office/powerpoint/2010/main" val="11072877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3FADD39-AB8A-4278-99D9-40CD8D745BA1}" type="slidenum">
              <a:rPr lang="en-US" smtClean="0"/>
              <a:t>7</a:t>
            </a:fld>
            <a:endParaRPr lang="en-US"/>
          </a:p>
        </p:txBody>
      </p:sp>
    </p:spTree>
    <p:extLst>
      <p:ext uri="{BB962C8B-B14F-4D97-AF65-F5344CB8AC3E}">
        <p14:creationId xmlns:p14="http://schemas.microsoft.com/office/powerpoint/2010/main" val="24633750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244F30-FCFD-6FED-2EBB-AD17AE608A4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5FF4D4E-099C-45CC-C16A-8E28C1C16B0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69E1FA2-FED2-8B6C-F85C-78EE58CB483C}"/>
              </a:ext>
            </a:extLst>
          </p:cNvPr>
          <p:cNvSpPr>
            <a:spLocks noGrp="1"/>
          </p:cNvSpPr>
          <p:nvPr>
            <p:ph type="dt" sz="half" idx="10"/>
          </p:nvPr>
        </p:nvSpPr>
        <p:spPr/>
        <p:txBody>
          <a:bodyPr/>
          <a:lstStyle/>
          <a:p>
            <a:fld id="{5CDD294D-83BB-48C2-9EE9-4B0B0168A414}" type="datetimeFigureOut">
              <a:rPr lang="en-US" smtClean="0"/>
              <a:t>2/28/2026</a:t>
            </a:fld>
            <a:endParaRPr lang="en-US"/>
          </a:p>
        </p:txBody>
      </p:sp>
      <p:sp>
        <p:nvSpPr>
          <p:cNvPr id="5" name="Footer Placeholder 4">
            <a:extLst>
              <a:ext uri="{FF2B5EF4-FFF2-40B4-BE49-F238E27FC236}">
                <a16:creationId xmlns:a16="http://schemas.microsoft.com/office/drawing/2014/main" id="{B192957A-104E-CBDE-EA16-70248BCCB2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BF260B4-04BE-A453-A4E0-F69ADFA30204}"/>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41117450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AFB4D8-42DC-EEF7-176D-A07E334B669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4AB53E4-DE9D-630C-4AEE-7302D47DE1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7AE9B9B-00EF-11B9-B2B2-B8A754A042E7}"/>
              </a:ext>
            </a:extLst>
          </p:cNvPr>
          <p:cNvSpPr>
            <a:spLocks noGrp="1"/>
          </p:cNvSpPr>
          <p:nvPr>
            <p:ph type="dt" sz="half" idx="10"/>
          </p:nvPr>
        </p:nvSpPr>
        <p:spPr/>
        <p:txBody>
          <a:bodyPr/>
          <a:lstStyle/>
          <a:p>
            <a:fld id="{5CDD294D-83BB-48C2-9EE9-4B0B0168A414}" type="datetimeFigureOut">
              <a:rPr lang="en-US" smtClean="0"/>
              <a:t>2/28/2026</a:t>
            </a:fld>
            <a:endParaRPr lang="en-US"/>
          </a:p>
        </p:txBody>
      </p:sp>
      <p:sp>
        <p:nvSpPr>
          <p:cNvPr id="5" name="Footer Placeholder 4">
            <a:extLst>
              <a:ext uri="{FF2B5EF4-FFF2-40B4-BE49-F238E27FC236}">
                <a16:creationId xmlns:a16="http://schemas.microsoft.com/office/drawing/2014/main" id="{B72D7114-D045-BB7D-8068-78FDB7C046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00CFEA2-507A-CC40-06AA-CF17163D8393}"/>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21352040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16FD8-A283-88D8-444A-9616E66D9ED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E786F1C-2591-237A-C81A-5E17D72DE45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A733CBB-B80B-0F22-22FC-E22C04297266}"/>
              </a:ext>
            </a:extLst>
          </p:cNvPr>
          <p:cNvSpPr>
            <a:spLocks noGrp="1"/>
          </p:cNvSpPr>
          <p:nvPr>
            <p:ph type="dt" sz="half" idx="10"/>
          </p:nvPr>
        </p:nvSpPr>
        <p:spPr/>
        <p:txBody>
          <a:bodyPr/>
          <a:lstStyle/>
          <a:p>
            <a:fld id="{5CDD294D-83BB-48C2-9EE9-4B0B0168A414}" type="datetimeFigureOut">
              <a:rPr lang="en-US" smtClean="0"/>
              <a:t>2/28/2026</a:t>
            </a:fld>
            <a:endParaRPr lang="en-US"/>
          </a:p>
        </p:txBody>
      </p:sp>
      <p:sp>
        <p:nvSpPr>
          <p:cNvPr id="5" name="Footer Placeholder 4">
            <a:extLst>
              <a:ext uri="{FF2B5EF4-FFF2-40B4-BE49-F238E27FC236}">
                <a16:creationId xmlns:a16="http://schemas.microsoft.com/office/drawing/2014/main" id="{C5941BA8-AD9C-1FA7-8EF8-702BF3DFE3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6674F37-39E2-85B7-504C-923079FBFC1B}"/>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22076902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1A6F68-AD81-3D6C-44B5-4BEC89B196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5410551-026F-C761-CCD6-8001C491F5D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F442424-F87B-F474-6926-54ED5F62BFC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F2D9BF2-C027-0AB4-2E5A-E05FA647AA9A}"/>
              </a:ext>
            </a:extLst>
          </p:cNvPr>
          <p:cNvSpPr>
            <a:spLocks noGrp="1"/>
          </p:cNvSpPr>
          <p:nvPr>
            <p:ph type="dt" sz="half" idx="10"/>
          </p:nvPr>
        </p:nvSpPr>
        <p:spPr/>
        <p:txBody>
          <a:bodyPr/>
          <a:lstStyle/>
          <a:p>
            <a:fld id="{5CDD294D-83BB-48C2-9EE9-4B0B0168A414}" type="datetimeFigureOut">
              <a:rPr lang="en-US" smtClean="0"/>
              <a:t>2/28/2026</a:t>
            </a:fld>
            <a:endParaRPr lang="en-US"/>
          </a:p>
        </p:txBody>
      </p:sp>
      <p:sp>
        <p:nvSpPr>
          <p:cNvPr id="6" name="Footer Placeholder 5">
            <a:extLst>
              <a:ext uri="{FF2B5EF4-FFF2-40B4-BE49-F238E27FC236}">
                <a16:creationId xmlns:a16="http://schemas.microsoft.com/office/drawing/2014/main" id="{2F1D65C2-6464-EE59-B202-5982A240D8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BF53B88-7925-EAFE-A752-E4F0582DF3A4}"/>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35325211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686086-82B2-DAD4-C530-0BA44A72276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675D6B5-CD47-3BD2-4F02-E93C3EFF426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DA5E3D2-FE7F-936C-D3A4-DC078F791A0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8B60DFD-857F-B790-A31A-7E3E7F81053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7EE82F2-D85C-390C-8A4A-44DAC8C6531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3CF2388-CD0A-86B5-46D0-7837328030B1}"/>
              </a:ext>
            </a:extLst>
          </p:cNvPr>
          <p:cNvSpPr>
            <a:spLocks noGrp="1"/>
          </p:cNvSpPr>
          <p:nvPr>
            <p:ph type="dt" sz="half" idx="10"/>
          </p:nvPr>
        </p:nvSpPr>
        <p:spPr/>
        <p:txBody>
          <a:bodyPr/>
          <a:lstStyle/>
          <a:p>
            <a:fld id="{5CDD294D-83BB-48C2-9EE9-4B0B0168A414}" type="datetimeFigureOut">
              <a:rPr lang="en-US" smtClean="0"/>
              <a:t>2/28/2026</a:t>
            </a:fld>
            <a:endParaRPr lang="en-US"/>
          </a:p>
        </p:txBody>
      </p:sp>
      <p:sp>
        <p:nvSpPr>
          <p:cNvPr id="8" name="Footer Placeholder 7">
            <a:extLst>
              <a:ext uri="{FF2B5EF4-FFF2-40B4-BE49-F238E27FC236}">
                <a16:creationId xmlns:a16="http://schemas.microsoft.com/office/drawing/2014/main" id="{81E98FF8-0CF1-9C7E-2BD9-777545F5347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9734FE2-DB0D-2751-0485-AEA728E771CF}"/>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85823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A17937-3241-60F2-438F-CF04AFBF750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DFB4BBF-4B69-03D9-B6B8-AEE72060EF4E}"/>
              </a:ext>
            </a:extLst>
          </p:cNvPr>
          <p:cNvSpPr>
            <a:spLocks noGrp="1"/>
          </p:cNvSpPr>
          <p:nvPr>
            <p:ph type="dt" sz="half" idx="10"/>
          </p:nvPr>
        </p:nvSpPr>
        <p:spPr/>
        <p:txBody>
          <a:bodyPr/>
          <a:lstStyle/>
          <a:p>
            <a:fld id="{5CDD294D-83BB-48C2-9EE9-4B0B0168A414}" type="datetimeFigureOut">
              <a:rPr lang="en-US" smtClean="0"/>
              <a:t>2/28/2026</a:t>
            </a:fld>
            <a:endParaRPr lang="en-US"/>
          </a:p>
        </p:txBody>
      </p:sp>
      <p:sp>
        <p:nvSpPr>
          <p:cNvPr id="4" name="Footer Placeholder 3">
            <a:extLst>
              <a:ext uri="{FF2B5EF4-FFF2-40B4-BE49-F238E27FC236}">
                <a16:creationId xmlns:a16="http://schemas.microsoft.com/office/drawing/2014/main" id="{7657FD13-039F-016B-B9F5-A53278FF5E5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3C1618E-9842-5543-A4FF-DE268435F0E8}"/>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36433519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56ABBE2-7FD4-AB13-10F0-61EB11812B6C}"/>
              </a:ext>
            </a:extLst>
          </p:cNvPr>
          <p:cNvSpPr>
            <a:spLocks noGrp="1"/>
          </p:cNvSpPr>
          <p:nvPr>
            <p:ph type="dt" sz="half" idx="10"/>
          </p:nvPr>
        </p:nvSpPr>
        <p:spPr/>
        <p:txBody>
          <a:bodyPr/>
          <a:lstStyle/>
          <a:p>
            <a:fld id="{5CDD294D-83BB-48C2-9EE9-4B0B0168A414}" type="datetimeFigureOut">
              <a:rPr lang="en-US" smtClean="0"/>
              <a:t>2/28/2026</a:t>
            </a:fld>
            <a:endParaRPr lang="en-US"/>
          </a:p>
        </p:txBody>
      </p:sp>
      <p:sp>
        <p:nvSpPr>
          <p:cNvPr id="3" name="Footer Placeholder 2">
            <a:extLst>
              <a:ext uri="{FF2B5EF4-FFF2-40B4-BE49-F238E27FC236}">
                <a16:creationId xmlns:a16="http://schemas.microsoft.com/office/drawing/2014/main" id="{689048F8-6FE3-80BA-26C7-A78EC116B48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14A94C4-BB66-5A9B-D1DD-FEDD7F2CBEE8}"/>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13207982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511CEF-C9E5-5BC8-FFFF-964E8CD4F6A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11661EB-94A7-F368-4658-9C3305D1CBB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CEB5A70-9449-3DC2-8B50-ECF3A7566D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6C3CBF1-B1A4-BEFA-5257-E47E7B4D8FDC}"/>
              </a:ext>
            </a:extLst>
          </p:cNvPr>
          <p:cNvSpPr>
            <a:spLocks noGrp="1"/>
          </p:cNvSpPr>
          <p:nvPr>
            <p:ph type="dt" sz="half" idx="10"/>
          </p:nvPr>
        </p:nvSpPr>
        <p:spPr/>
        <p:txBody>
          <a:bodyPr/>
          <a:lstStyle/>
          <a:p>
            <a:fld id="{5CDD294D-83BB-48C2-9EE9-4B0B0168A414}" type="datetimeFigureOut">
              <a:rPr lang="en-US" smtClean="0"/>
              <a:t>2/28/2026</a:t>
            </a:fld>
            <a:endParaRPr lang="en-US"/>
          </a:p>
        </p:txBody>
      </p:sp>
      <p:sp>
        <p:nvSpPr>
          <p:cNvPr id="6" name="Footer Placeholder 5">
            <a:extLst>
              <a:ext uri="{FF2B5EF4-FFF2-40B4-BE49-F238E27FC236}">
                <a16:creationId xmlns:a16="http://schemas.microsoft.com/office/drawing/2014/main" id="{33D3CF65-1D8C-2D35-BFFE-605D844FEAE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0AE98AD-8FAC-DF0D-9CB5-8F17346D15DE}"/>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3683664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E691E2-244E-9D42-B9B1-2B4BDF995AB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48DDC8B-2A73-100B-590C-226AF101237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65E1766-A32E-48C9-1EE2-136D580525F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0B619E-E7CC-C315-AA1F-C646B4F04DAD}"/>
              </a:ext>
            </a:extLst>
          </p:cNvPr>
          <p:cNvSpPr>
            <a:spLocks noGrp="1"/>
          </p:cNvSpPr>
          <p:nvPr>
            <p:ph type="dt" sz="half" idx="10"/>
          </p:nvPr>
        </p:nvSpPr>
        <p:spPr/>
        <p:txBody>
          <a:bodyPr/>
          <a:lstStyle/>
          <a:p>
            <a:fld id="{5CDD294D-83BB-48C2-9EE9-4B0B0168A414}" type="datetimeFigureOut">
              <a:rPr lang="en-US" smtClean="0"/>
              <a:t>2/28/2026</a:t>
            </a:fld>
            <a:endParaRPr lang="en-US"/>
          </a:p>
        </p:txBody>
      </p:sp>
      <p:sp>
        <p:nvSpPr>
          <p:cNvPr id="6" name="Footer Placeholder 5">
            <a:extLst>
              <a:ext uri="{FF2B5EF4-FFF2-40B4-BE49-F238E27FC236}">
                <a16:creationId xmlns:a16="http://schemas.microsoft.com/office/drawing/2014/main" id="{7E62A376-CDD7-A58B-C80A-07391E7B478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AB575ED-2AA5-0384-5B48-1849E0723409}"/>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20298502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B3C902-6E9C-A299-4E17-22ED37854E3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0200B65-C0DE-8DF6-230C-B370F562A6E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8F7BF3E-80D4-7B6A-3452-DD4892551223}"/>
              </a:ext>
            </a:extLst>
          </p:cNvPr>
          <p:cNvSpPr>
            <a:spLocks noGrp="1"/>
          </p:cNvSpPr>
          <p:nvPr>
            <p:ph type="dt" sz="half" idx="10"/>
          </p:nvPr>
        </p:nvSpPr>
        <p:spPr/>
        <p:txBody>
          <a:bodyPr/>
          <a:lstStyle/>
          <a:p>
            <a:fld id="{5CDD294D-83BB-48C2-9EE9-4B0B0168A414}" type="datetimeFigureOut">
              <a:rPr lang="en-US" smtClean="0"/>
              <a:t>2/28/2026</a:t>
            </a:fld>
            <a:endParaRPr lang="en-US"/>
          </a:p>
        </p:txBody>
      </p:sp>
      <p:sp>
        <p:nvSpPr>
          <p:cNvPr id="5" name="Footer Placeholder 4">
            <a:extLst>
              <a:ext uri="{FF2B5EF4-FFF2-40B4-BE49-F238E27FC236}">
                <a16:creationId xmlns:a16="http://schemas.microsoft.com/office/drawing/2014/main" id="{AB34E552-028E-256C-343D-692EBE8F695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0334BDC-15F4-4A6C-66D7-463E7E5D61BC}"/>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18110453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AB81025-4D41-A709-9560-1D68239F275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0EC8C33-4E5D-DE2F-4D7F-7CE2B507B89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7144319-D93A-CF41-DC09-B306CB096AE4}"/>
              </a:ext>
            </a:extLst>
          </p:cNvPr>
          <p:cNvSpPr>
            <a:spLocks noGrp="1"/>
          </p:cNvSpPr>
          <p:nvPr>
            <p:ph type="dt" sz="half" idx="10"/>
          </p:nvPr>
        </p:nvSpPr>
        <p:spPr/>
        <p:txBody>
          <a:bodyPr/>
          <a:lstStyle/>
          <a:p>
            <a:fld id="{5CDD294D-83BB-48C2-9EE9-4B0B0168A414}" type="datetimeFigureOut">
              <a:rPr lang="en-US" smtClean="0"/>
              <a:t>2/28/2026</a:t>
            </a:fld>
            <a:endParaRPr lang="en-US"/>
          </a:p>
        </p:txBody>
      </p:sp>
      <p:sp>
        <p:nvSpPr>
          <p:cNvPr id="5" name="Footer Placeholder 4">
            <a:extLst>
              <a:ext uri="{FF2B5EF4-FFF2-40B4-BE49-F238E27FC236}">
                <a16:creationId xmlns:a16="http://schemas.microsoft.com/office/drawing/2014/main" id="{7AE5480B-8874-AFF9-BEFE-9E64AE9BDA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ACB3DB-C855-9DBB-022A-F4875EC57096}"/>
              </a:ext>
            </a:extLst>
          </p:cNvPr>
          <p:cNvSpPr>
            <a:spLocks noGrp="1"/>
          </p:cNvSpPr>
          <p:nvPr>
            <p:ph type="sldNum" sz="quarter" idx="12"/>
          </p:nvPr>
        </p:nvSpPr>
        <p:spPr/>
        <p:txBody>
          <a:bodyPr/>
          <a:lstStyle/>
          <a:p>
            <a:fld id="{EA7AC6CD-6561-4BC4-8692-AA11B8096719}" type="slidenum">
              <a:rPr lang="en-US" smtClean="0"/>
              <a:t>‹#›</a:t>
            </a:fld>
            <a:endParaRPr lang="en-US"/>
          </a:p>
        </p:txBody>
      </p:sp>
    </p:spTree>
    <p:extLst>
      <p:ext uri="{BB962C8B-B14F-4D97-AF65-F5344CB8AC3E}">
        <p14:creationId xmlns:p14="http://schemas.microsoft.com/office/powerpoint/2010/main" val="20008437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EF941D8-711F-7156-B956-AF349C1B75D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85611BC-9068-E916-7149-AB52295BDD6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F1458FC-54A0-C836-3CDB-D7102BBF25D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CDD294D-83BB-48C2-9EE9-4B0B0168A414}" type="datetimeFigureOut">
              <a:rPr lang="en-US" smtClean="0"/>
              <a:t>2/28/2026</a:t>
            </a:fld>
            <a:endParaRPr lang="en-US"/>
          </a:p>
        </p:txBody>
      </p:sp>
      <p:sp>
        <p:nvSpPr>
          <p:cNvPr id="5" name="Footer Placeholder 4">
            <a:extLst>
              <a:ext uri="{FF2B5EF4-FFF2-40B4-BE49-F238E27FC236}">
                <a16:creationId xmlns:a16="http://schemas.microsoft.com/office/drawing/2014/main" id="{E0699771-5CC8-9A74-CDB9-8DDC4FBEC0B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9F2360E-0275-A57A-2874-B6821EDCBB2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A7AC6CD-6561-4BC4-8692-AA11B8096719}" type="slidenum">
              <a:rPr lang="en-US" smtClean="0"/>
              <a:t>‹#›</a:t>
            </a:fld>
            <a:endParaRPr lang="en-US"/>
          </a:p>
        </p:txBody>
      </p:sp>
    </p:spTree>
    <p:extLst>
      <p:ext uri="{BB962C8B-B14F-4D97-AF65-F5344CB8AC3E}">
        <p14:creationId xmlns:p14="http://schemas.microsoft.com/office/powerpoint/2010/main" val="127955826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www.linkedin.com/in/juantarquino"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hyperlink" Target="https://jptarqu.blogspot.com/"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microsoft/RulesEngine"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microsoft/power-fx-host-samples" TargetMode="External"/><Relationship Id="rId2" Type="http://schemas.openxmlformats.org/officeDocument/2006/relationships/hyperlink" Target="https://github.com/microsoft/Power-Fx" TargetMode="External"/><Relationship Id="rId1" Type="http://schemas.openxmlformats.org/officeDocument/2006/relationships/slideLayout" Target="../slideLayouts/slideLayout2.xml"/><Relationship Id="rId4" Type="http://schemas.openxmlformats.org/officeDocument/2006/relationships/hyperlink" Target="https://github.com/TheJuanitoLearnsShow/PuppyWorkbooks/blob/main/src/PuppyWorkbooks/5-Presentation/MinimalInterpreterExamples/Program.cs"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2D45EE4-C4F0-4F72-B1C6-39F596D138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8C459BAD-4279-4A9D-B0C5-662C5F5ED2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3203463" y="-2060461"/>
            <a:ext cx="5649003" cy="10651671"/>
          </a:xfrm>
          <a:custGeom>
            <a:avLst/>
            <a:gdLst>
              <a:gd name="csX0" fmla="*/ 0 w 5649003"/>
              <a:gd name="csY0" fmla="*/ 5325836 h 10651671"/>
              <a:gd name="csX1" fmla="*/ 2824502 w 5649003"/>
              <a:gd name="csY1" fmla="*/ 0 h 10651671"/>
              <a:gd name="csX2" fmla="*/ 5649004 w 5649003"/>
              <a:gd name="csY2" fmla="*/ 5325836 h 10651671"/>
              <a:gd name="csX3" fmla="*/ 2824502 w 5649003"/>
              <a:gd name="csY3" fmla="*/ 10651672 h 10651671"/>
              <a:gd name="csX4" fmla="*/ 0 w 5649003"/>
              <a:gd name="csY4" fmla="*/ 5325836 h 10651671"/>
            </a:gdLst>
            <a:ahLst/>
            <a:cxnLst>
              <a:cxn ang="0">
                <a:pos x="csX0" y="csY0"/>
              </a:cxn>
              <a:cxn ang="0">
                <a:pos x="csX1" y="csY1"/>
              </a:cxn>
              <a:cxn ang="0">
                <a:pos x="csX2" y="csY2"/>
              </a:cxn>
              <a:cxn ang="0">
                <a:pos x="csX3" y="csY3"/>
              </a:cxn>
              <a:cxn ang="0">
                <a:pos x="csX4" y="csY4"/>
              </a:cxn>
            </a:cxnLst>
            <a:rect l="l" t="t" r="r" b="b"/>
            <a:pathLst>
              <a:path w="5649003" h="10651671" fill="none" extrusionOk="0">
                <a:moveTo>
                  <a:pt x="0" y="5325836"/>
                </a:moveTo>
                <a:cubicBezTo>
                  <a:pt x="186946" y="2320485"/>
                  <a:pt x="1438121" y="-52385"/>
                  <a:pt x="2824502" y="0"/>
                </a:cubicBezTo>
                <a:cubicBezTo>
                  <a:pt x="4703838" y="-43168"/>
                  <a:pt x="5583840" y="2369660"/>
                  <a:pt x="5649004" y="5325836"/>
                </a:cubicBezTo>
                <a:cubicBezTo>
                  <a:pt x="5518761" y="8289338"/>
                  <a:pt x="4285196" y="10894014"/>
                  <a:pt x="2824502" y="10651672"/>
                </a:cubicBezTo>
                <a:cubicBezTo>
                  <a:pt x="1536945" y="11016699"/>
                  <a:pt x="142947" y="8418643"/>
                  <a:pt x="0" y="5325836"/>
                </a:cubicBezTo>
                <a:close/>
              </a:path>
              <a:path w="5649003" h="10651671" stroke="0" extrusionOk="0">
                <a:moveTo>
                  <a:pt x="0" y="5325836"/>
                </a:moveTo>
                <a:cubicBezTo>
                  <a:pt x="-54350" y="2332108"/>
                  <a:pt x="1351726" y="167869"/>
                  <a:pt x="2824502" y="0"/>
                </a:cubicBezTo>
                <a:cubicBezTo>
                  <a:pt x="4182679" y="-143942"/>
                  <a:pt x="5672665" y="2549517"/>
                  <a:pt x="5649004" y="5325836"/>
                </a:cubicBezTo>
                <a:cubicBezTo>
                  <a:pt x="5518596" y="8280244"/>
                  <a:pt x="4081190" y="10622204"/>
                  <a:pt x="2824502" y="10651672"/>
                </a:cubicBezTo>
                <a:cubicBezTo>
                  <a:pt x="1216708" y="10537144"/>
                  <a:pt x="-100850" y="8264979"/>
                  <a:pt x="0" y="5325836"/>
                </a:cubicBezTo>
                <a:close/>
              </a:path>
            </a:pathLst>
          </a:custGeom>
          <a:solidFill>
            <a:schemeClr val="accent2"/>
          </a:solidFill>
          <a:ln w="57150">
            <a:solidFill>
              <a:schemeClr val="accent2"/>
            </a:solidFill>
            <a:extLst>
              <a:ext uri="{C807C97D-BFC1-408E-A445-0C87EB9F89A2}">
                <ask:lineSketchStyleProps xmlns:ask="http://schemas.microsoft.com/office/drawing/2018/sketchyshapes" sd="63743190">
                  <a:prstGeom prst="ellipse">
                    <a:avLst/>
                  </a:prstGeom>
                  <ask:type>
                    <ask:lineSketchCurve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21C7C281-0D8A-7D1A-1A3A-A9AA7B2EC34A}"/>
              </a:ext>
            </a:extLst>
          </p:cNvPr>
          <p:cNvSpPr>
            <a:spLocks noGrp="1"/>
          </p:cNvSpPr>
          <p:nvPr>
            <p:ph type="ctrTitle"/>
          </p:nvPr>
        </p:nvSpPr>
        <p:spPr>
          <a:xfrm>
            <a:off x="2066544" y="1911096"/>
            <a:ext cx="8055864" cy="2076651"/>
          </a:xfrm>
        </p:spPr>
        <p:txBody>
          <a:bodyPr anchor="b">
            <a:normAutofit/>
          </a:bodyPr>
          <a:lstStyle/>
          <a:p>
            <a:r>
              <a:rPr lang="en-US" sz="6600" dirty="0">
                <a:solidFill>
                  <a:srgbClr val="FFFFFF"/>
                </a:solidFill>
              </a:rPr>
              <a:t>Embed </a:t>
            </a:r>
            <a:r>
              <a:rPr lang="en-US" sz="6600" dirty="0" err="1">
                <a:solidFill>
                  <a:srgbClr val="FFFFFF"/>
                </a:solidFill>
              </a:rPr>
              <a:t>PowerFX</a:t>
            </a:r>
            <a:r>
              <a:rPr lang="en-US" sz="6600" dirty="0">
                <a:solidFill>
                  <a:srgbClr val="FFFFFF"/>
                </a:solidFill>
              </a:rPr>
              <a:t> in your .NET Apps!</a:t>
            </a:r>
          </a:p>
        </p:txBody>
      </p:sp>
      <p:sp>
        <p:nvSpPr>
          <p:cNvPr id="3" name="Subtitle 2">
            <a:extLst>
              <a:ext uri="{FF2B5EF4-FFF2-40B4-BE49-F238E27FC236}">
                <a16:creationId xmlns:a16="http://schemas.microsoft.com/office/drawing/2014/main" id="{CA977AF2-7DD2-BDC2-A7C1-9D392D486378}"/>
              </a:ext>
            </a:extLst>
          </p:cNvPr>
          <p:cNvSpPr>
            <a:spLocks noGrp="1"/>
          </p:cNvSpPr>
          <p:nvPr>
            <p:ph type="subTitle" idx="1"/>
          </p:nvPr>
        </p:nvSpPr>
        <p:spPr>
          <a:xfrm>
            <a:off x="3227832" y="4353507"/>
            <a:ext cx="5733288" cy="932688"/>
          </a:xfrm>
        </p:spPr>
        <p:txBody>
          <a:bodyPr>
            <a:normAutofit/>
          </a:bodyPr>
          <a:lstStyle/>
          <a:p>
            <a:endParaRPr lang="en-US">
              <a:solidFill>
                <a:srgbClr val="FFFFFF"/>
              </a:solidFill>
            </a:endParaRPr>
          </a:p>
        </p:txBody>
      </p:sp>
      <p:sp>
        <p:nvSpPr>
          <p:cNvPr id="12" name="sketch line">
            <a:extLst>
              <a:ext uri="{FF2B5EF4-FFF2-40B4-BE49-F238E27FC236}">
                <a16:creationId xmlns:a16="http://schemas.microsoft.com/office/drawing/2014/main" id="{0953BC39-9D68-40BE-BF3C-5C4EB782AF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173498"/>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41275"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114810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0EC05-4BE2-0827-7AA6-45C23C981DF4}"/>
              </a:ext>
            </a:extLst>
          </p:cNvPr>
          <p:cNvSpPr>
            <a:spLocks noGrp="1"/>
          </p:cNvSpPr>
          <p:nvPr>
            <p:ph type="title"/>
          </p:nvPr>
        </p:nvSpPr>
        <p:spPr>
          <a:xfrm>
            <a:off x="640080" y="329184"/>
            <a:ext cx="6894576" cy="1783080"/>
          </a:xfrm>
        </p:spPr>
        <p:txBody>
          <a:bodyPr anchor="b">
            <a:normAutofit/>
          </a:bodyPr>
          <a:lstStyle/>
          <a:p>
            <a:r>
              <a:rPr lang="en-US" sz="6600" dirty="0"/>
              <a:t>Intro</a:t>
            </a:r>
          </a:p>
        </p:txBody>
      </p:sp>
      <p:sp>
        <p:nvSpPr>
          <p:cNvPr id="3" name="Content Placeholder 2">
            <a:extLst>
              <a:ext uri="{FF2B5EF4-FFF2-40B4-BE49-F238E27FC236}">
                <a16:creationId xmlns:a16="http://schemas.microsoft.com/office/drawing/2014/main" id="{9482E84A-BDAD-C72C-F004-13D054A6BB29}"/>
              </a:ext>
            </a:extLst>
          </p:cNvPr>
          <p:cNvSpPr>
            <a:spLocks noGrp="1"/>
          </p:cNvSpPr>
          <p:nvPr>
            <p:ph idx="1"/>
          </p:nvPr>
        </p:nvSpPr>
        <p:spPr>
          <a:xfrm>
            <a:off x="640080" y="2706624"/>
            <a:ext cx="6894576" cy="3483864"/>
          </a:xfrm>
        </p:spPr>
        <p:txBody>
          <a:bodyPr>
            <a:normAutofit/>
          </a:bodyPr>
          <a:lstStyle/>
          <a:p>
            <a:r>
              <a:rPr lang="en-US" sz="2200" dirty="0"/>
              <a:t>Juan Pablo Tarquino </a:t>
            </a:r>
          </a:p>
          <a:p>
            <a:r>
              <a:rPr lang="en-US" sz="2200" dirty="0"/>
              <a:t>Software Developer with about 20 years of experience</a:t>
            </a:r>
          </a:p>
          <a:p>
            <a:pPr lvl="1"/>
            <a:r>
              <a:rPr lang="en-US" sz="2200" dirty="0"/>
              <a:t>LinkedIn</a:t>
            </a:r>
          </a:p>
          <a:p>
            <a:pPr lvl="2"/>
            <a:r>
              <a:rPr lang="en-US" sz="2200" dirty="0">
                <a:hlinkClick r:id="rId3"/>
              </a:rPr>
              <a:t>https://www.linkedin.com/in/juantarquino</a:t>
            </a:r>
            <a:r>
              <a:rPr lang="en-US" sz="2200" dirty="0"/>
              <a:t> </a:t>
            </a:r>
          </a:p>
          <a:p>
            <a:pPr lvl="1"/>
            <a:r>
              <a:rPr lang="en-US" sz="2200" dirty="0"/>
              <a:t>Blog (not updated often </a:t>
            </a:r>
            <a:r>
              <a:rPr lang="en-US" sz="2200" dirty="0">
                <a:sym typeface="Wingdings" panose="05000000000000000000" pitchFamily="2" charset="2"/>
              </a:rPr>
              <a:t> </a:t>
            </a:r>
            <a:r>
              <a:rPr lang="en-US" sz="2200" dirty="0"/>
              <a:t>)</a:t>
            </a:r>
          </a:p>
          <a:p>
            <a:pPr lvl="2"/>
            <a:r>
              <a:rPr lang="en-US" sz="2200" dirty="0">
                <a:hlinkClick r:id="rId4"/>
              </a:rPr>
              <a:t>https://jptarqu.blogspot.com</a:t>
            </a:r>
            <a:r>
              <a:rPr lang="en-US" sz="2200" dirty="0"/>
              <a:t>  </a:t>
            </a:r>
          </a:p>
          <a:p>
            <a:r>
              <a:rPr lang="en-US" sz="2200" dirty="0"/>
              <a:t>Sample repo for this session: </a:t>
            </a:r>
          </a:p>
          <a:p>
            <a:pPr lvl="1"/>
            <a:r>
              <a:rPr lang="en-US" sz="2200" dirty="0"/>
              <a:t>https://tinyurl.com/EmbedPowerFx </a:t>
            </a:r>
          </a:p>
          <a:p>
            <a:endParaRPr lang="en-US" sz="2200" dirty="0"/>
          </a:p>
        </p:txBody>
      </p:sp>
      <p:pic>
        <p:nvPicPr>
          <p:cNvPr id="7" name="Picture 6">
            <a:extLst>
              <a:ext uri="{FF2B5EF4-FFF2-40B4-BE49-F238E27FC236}">
                <a16:creationId xmlns:a16="http://schemas.microsoft.com/office/drawing/2014/main" id="{685DA20C-00C6-81E7-993F-496E86E2B133}"/>
              </a:ext>
            </a:extLst>
          </p:cNvPr>
          <p:cNvPicPr>
            <a:picLocks noChangeAspect="1"/>
          </p:cNvPicPr>
          <p:nvPr/>
        </p:nvPicPr>
        <p:blipFill>
          <a:blip r:embed="rId5"/>
          <a:srcRect t="24668" r="-4" b="15002"/>
          <a:stretch/>
        </p:blipFill>
        <p:spPr>
          <a:xfrm>
            <a:off x="8144356" y="4267201"/>
            <a:ext cx="4047645" cy="2590808"/>
          </a:xfrm>
          <a:custGeom>
            <a:avLst/>
            <a:gdLst/>
            <a:ahLst/>
            <a:cxnLst/>
            <a:rect l="l" t="t" r="r" b="b"/>
            <a:pathLst>
              <a:path w="4047645" h="2495811">
                <a:moveTo>
                  <a:pt x="2441891" y="4"/>
                </a:moveTo>
                <a:cubicBezTo>
                  <a:pt x="2489381" y="-78"/>
                  <a:pt x="2536882" y="1163"/>
                  <a:pt x="2584383" y="4428"/>
                </a:cubicBezTo>
                <a:cubicBezTo>
                  <a:pt x="2744314" y="17813"/>
                  <a:pt x="2904989" y="21079"/>
                  <a:pt x="3065367" y="14222"/>
                </a:cubicBezTo>
                <a:cubicBezTo>
                  <a:pt x="3194244" y="5694"/>
                  <a:pt x="3323514" y="4206"/>
                  <a:pt x="3452568" y="9782"/>
                </a:cubicBezTo>
                <a:cubicBezTo>
                  <a:pt x="3572813" y="16442"/>
                  <a:pt x="3693059" y="23233"/>
                  <a:pt x="3813712" y="19315"/>
                </a:cubicBezTo>
                <a:cubicBezTo>
                  <a:pt x="3861755" y="17748"/>
                  <a:pt x="3909121" y="15789"/>
                  <a:pt x="3956758" y="13177"/>
                </a:cubicBezTo>
                <a:lnTo>
                  <a:pt x="4047645" y="9696"/>
                </a:lnTo>
                <a:lnTo>
                  <a:pt x="4047645" y="2495811"/>
                </a:lnTo>
                <a:lnTo>
                  <a:pt x="28177" y="2495811"/>
                </a:lnTo>
                <a:lnTo>
                  <a:pt x="28782" y="2485852"/>
                </a:lnTo>
                <a:cubicBezTo>
                  <a:pt x="31911" y="2365446"/>
                  <a:pt x="35027" y="2245002"/>
                  <a:pt x="38157" y="2124521"/>
                </a:cubicBezTo>
                <a:cubicBezTo>
                  <a:pt x="38284" y="2119444"/>
                  <a:pt x="39171" y="2114494"/>
                  <a:pt x="39171" y="2109417"/>
                </a:cubicBezTo>
                <a:cubicBezTo>
                  <a:pt x="48166" y="1995573"/>
                  <a:pt x="53107" y="1881729"/>
                  <a:pt x="18899" y="1770550"/>
                </a:cubicBezTo>
                <a:cubicBezTo>
                  <a:pt x="15871" y="1760104"/>
                  <a:pt x="14262" y="1749304"/>
                  <a:pt x="14084" y="1738440"/>
                </a:cubicBezTo>
                <a:cubicBezTo>
                  <a:pt x="12413" y="1641514"/>
                  <a:pt x="16644" y="1544587"/>
                  <a:pt x="26754" y="1448181"/>
                </a:cubicBezTo>
                <a:cubicBezTo>
                  <a:pt x="31949" y="1389038"/>
                  <a:pt x="26754" y="1329006"/>
                  <a:pt x="43478" y="1270498"/>
                </a:cubicBezTo>
                <a:cubicBezTo>
                  <a:pt x="50864" y="1241421"/>
                  <a:pt x="55109" y="1211634"/>
                  <a:pt x="56147" y="1181656"/>
                </a:cubicBezTo>
                <a:cubicBezTo>
                  <a:pt x="59948" y="1109060"/>
                  <a:pt x="38537" y="1040779"/>
                  <a:pt x="18139" y="972244"/>
                </a:cubicBezTo>
                <a:cubicBezTo>
                  <a:pt x="7370" y="935945"/>
                  <a:pt x="-5426" y="898886"/>
                  <a:pt x="2429" y="860811"/>
                </a:cubicBezTo>
                <a:cubicBezTo>
                  <a:pt x="16707" y="802251"/>
                  <a:pt x="24854" y="742359"/>
                  <a:pt x="26754" y="682112"/>
                </a:cubicBezTo>
                <a:cubicBezTo>
                  <a:pt x="26754" y="639468"/>
                  <a:pt x="16365" y="597712"/>
                  <a:pt x="20039" y="555195"/>
                </a:cubicBezTo>
                <a:cubicBezTo>
                  <a:pt x="28211" y="472712"/>
                  <a:pt x="30238" y="389734"/>
                  <a:pt x="26121" y="306946"/>
                </a:cubicBezTo>
                <a:cubicBezTo>
                  <a:pt x="26095" y="273846"/>
                  <a:pt x="29846" y="240848"/>
                  <a:pt x="37270" y="208585"/>
                </a:cubicBezTo>
                <a:cubicBezTo>
                  <a:pt x="46506" y="151651"/>
                  <a:pt x="48419" y="93777"/>
                  <a:pt x="42971" y="36360"/>
                </a:cubicBezTo>
                <a:lnTo>
                  <a:pt x="38853" y="8429"/>
                </a:lnTo>
                <a:lnTo>
                  <a:pt x="56649" y="7824"/>
                </a:lnTo>
                <a:cubicBezTo>
                  <a:pt x="210497" y="-156"/>
                  <a:pt x="364754" y="3162"/>
                  <a:pt x="518087" y="17748"/>
                </a:cubicBezTo>
                <a:cubicBezTo>
                  <a:pt x="626567" y="25440"/>
                  <a:pt x="735534" y="24213"/>
                  <a:pt x="843809" y="14092"/>
                </a:cubicBezTo>
                <a:cubicBezTo>
                  <a:pt x="1042499" y="-1711"/>
                  <a:pt x="1240782" y="10958"/>
                  <a:pt x="1439065" y="21666"/>
                </a:cubicBezTo>
                <a:cubicBezTo>
                  <a:pt x="1631105" y="32113"/>
                  <a:pt x="1823010" y="24408"/>
                  <a:pt x="2015050" y="17487"/>
                </a:cubicBezTo>
                <a:cubicBezTo>
                  <a:pt x="2157045" y="12394"/>
                  <a:pt x="2299420" y="249"/>
                  <a:pt x="2441891" y="4"/>
                </a:cubicBezTo>
                <a:close/>
              </a:path>
            </a:pathLst>
          </a:custGeom>
        </p:spPr>
      </p:pic>
    </p:spTree>
    <p:extLst>
      <p:ext uri="{BB962C8B-B14F-4D97-AF65-F5344CB8AC3E}">
        <p14:creationId xmlns:p14="http://schemas.microsoft.com/office/powerpoint/2010/main" val="15284681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630D041-AC4E-A657-E3F2-972A41C6004F}"/>
              </a:ext>
            </a:extLst>
          </p:cNvPr>
          <p:cNvSpPr>
            <a:spLocks noGrp="1"/>
          </p:cNvSpPr>
          <p:nvPr>
            <p:ph type="title"/>
          </p:nvPr>
        </p:nvSpPr>
        <p:spPr>
          <a:xfrm>
            <a:off x="838200" y="365125"/>
            <a:ext cx="10515600" cy="1325563"/>
          </a:xfrm>
        </p:spPr>
        <p:txBody>
          <a:bodyPr>
            <a:normAutofit/>
          </a:bodyPr>
          <a:lstStyle/>
          <a:p>
            <a:r>
              <a:rPr lang="en-US" sz="5400" dirty="0"/>
              <a:t>Today’s Talk</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598D7916-63CE-FB74-076E-E44A9B1B59C9}"/>
              </a:ext>
            </a:extLst>
          </p:cNvPr>
          <p:cNvSpPr>
            <a:spLocks noGrp="1"/>
          </p:cNvSpPr>
          <p:nvPr>
            <p:ph idx="1"/>
          </p:nvPr>
        </p:nvSpPr>
        <p:spPr>
          <a:xfrm>
            <a:off x="838200" y="1929384"/>
            <a:ext cx="10515600" cy="4251960"/>
          </a:xfrm>
        </p:spPr>
        <p:txBody>
          <a:bodyPr>
            <a:normAutofit/>
          </a:bodyPr>
          <a:lstStyle/>
          <a:p>
            <a:r>
              <a:rPr lang="en-US" sz="2200" dirty="0"/>
              <a:t>Problem scenario</a:t>
            </a:r>
          </a:p>
          <a:p>
            <a:r>
              <a:rPr lang="en-US" sz="2200" dirty="0"/>
              <a:t>Intro to </a:t>
            </a:r>
            <a:r>
              <a:rPr lang="en-US" sz="2200" dirty="0" err="1"/>
              <a:t>PowerFX</a:t>
            </a:r>
            <a:endParaRPr lang="en-US" sz="2200" dirty="0"/>
          </a:p>
          <a:p>
            <a:r>
              <a:rPr lang="en-US" sz="2200" dirty="0"/>
              <a:t>Why </a:t>
            </a:r>
            <a:r>
              <a:rPr lang="en-US" sz="2200" dirty="0" err="1"/>
              <a:t>why</a:t>
            </a:r>
            <a:r>
              <a:rPr lang="en-US" sz="2200" dirty="0"/>
              <a:t> embedding </a:t>
            </a:r>
            <a:r>
              <a:rPr lang="en-US" sz="2200" dirty="0" err="1"/>
              <a:t>PowerFX</a:t>
            </a:r>
            <a:r>
              <a:rPr lang="en-US" sz="2200" dirty="0"/>
              <a:t> is a solution to the problem</a:t>
            </a:r>
          </a:p>
          <a:p>
            <a:r>
              <a:rPr lang="en-US" sz="2200" dirty="0"/>
              <a:t>How to run the </a:t>
            </a:r>
            <a:r>
              <a:rPr lang="en-US" sz="2200" dirty="0" err="1"/>
              <a:t>PowerFX</a:t>
            </a:r>
            <a:r>
              <a:rPr lang="en-US" sz="2200" dirty="0"/>
              <a:t> interpreter from .NET</a:t>
            </a:r>
          </a:p>
          <a:p>
            <a:r>
              <a:rPr lang="en-US" sz="2200" dirty="0"/>
              <a:t>How to extend the </a:t>
            </a:r>
            <a:r>
              <a:rPr lang="en-US" sz="2200" dirty="0" err="1"/>
              <a:t>PowerFX</a:t>
            </a:r>
            <a:r>
              <a:rPr lang="en-US" sz="2200" dirty="0"/>
              <a:t> interpreter</a:t>
            </a:r>
          </a:p>
        </p:txBody>
      </p:sp>
    </p:spTree>
    <p:extLst>
      <p:ext uri="{BB962C8B-B14F-4D97-AF65-F5344CB8AC3E}">
        <p14:creationId xmlns:p14="http://schemas.microsoft.com/office/powerpoint/2010/main" val="30855569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FD8F957-F573-EC9A-C2C0-1FCECDB23951}"/>
              </a:ext>
            </a:extLst>
          </p:cNvPr>
          <p:cNvSpPr>
            <a:spLocks noGrp="1"/>
          </p:cNvSpPr>
          <p:nvPr>
            <p:ph type="title"/>
          </p:nvPr>
        </p:nvSpPr>
        <p:spPr>
          <a:xfrm>
            <a:off x="686834" y="1153572"/>
            <a:ext cx="3200400" cy="4461163"/>
          </a:xfrm>
        </p:spPr>
        <p:txBody>
          <a:bodyPr>
            <a:normAutofit/>
          </a:bodyPr>
          <a:lstStyle/>
          <a:p>
            <a:r>
              <a:rPr lang="en-US" sz="3700">
                <a:solidFill>
                  <a:srgbClr val="FFFFFF"/>
                </a:solidFill>
              </a:rPr>
              <a:t>Once upon a time in Pizzas’R’Us™…</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5D3158F9-EE5C-E168-CA1E-AE34B3D45B60}"/>
              </a:ext>
            </a:extLst>
          </p:cNvPr>
          <p:cNvSpPr>
            <a:spLocks noGrp="1"/>
          </p:cNvSpPr>
          <p:nvPr>
            <p:ph idx="1"/>
          </p:nvPr>
        </p:nvSpPr>
        <p:spPr>
          <a:xfrm>
            <a:off x="4447308" y="591344"/>
            <a:ext cx="6906491" cy="5585619"/>
          </a:xfrm>
        </p:spPr>
        <p:txBody>
          <a:bodyPr anchor="ctr">
            <a:normAutofit/>
          </a:bodyPr>
          <a:lstStyle/>
          <a:p>
            <a:r>
              <a:rPr lang="en-US"/>
              <a:t>Pizzas’R’Us™ is a small but profitable company, trying to be as nimble as possible, providing pizza services to restaurants and super-markets.</a:t>
            </a:r>
          </a:p>
        </p:txBody>
      </p:sp>
    </p:spTree>
    <p:extLst>
      <p:ext uri="{BB962C8B-B14F-4D97-AF65-F5344CB8AC3E}">
        <p14:creationId xmlns:p14="http://schemas.microsoft.com/office/powerpoint/2010/main" val="3250517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E3AEE24-F59E-E1BF-065D-732CB17481AB}"/>
              </a:ext>
            </a:extLst>
          </p:cNvPr>
          <p:cNvSpPr>
            <a:spLocks noGrp="1"/>
          </p:cNvSpPr>
          <p:nvPr>
            <p:ph type="title"/>
          </p:nvPr>
        </p:nvSpPr>
        <p:spPr>
          <a:xfrm>
            <a:off x="838200" y="365125"/>
            <a:ext cx="10515600" cy="1325563"/>
          </a:xfrm>
        </p:spPr>
        <p:txBody>
          <a:bodyPr>
            <a:normAutofit/>
          </a:bodyPr>
          <a:lstStyle/>
          <a:p>
            <a:r>
              <a:rPr lang="en-US" sz="5400" dirty="0"/>
              <a:t>Problem scenario</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D8DAAEB9-574D-C5FA-A69B-705C75250794}"/>
              </a:ext>
            </a:extLst>
          </p:cNvPr>
          <p:cNvSpPr>
            <a:spLocks noGrp="1"/>
          </p:cNvSpPr>
          <p:nvPr>
            <p:ph idx="1"/>
          </p:nvPr>
        </p:nvSpPr>
        <p:spPr>
          <a:xfrm>
            <a:off x="838200" y="1929384"/>
            <a:ext cx="10515600" cy="4251960"/>
          </a:xfrm>
        </p:spPr>
        <p:txBody>
          <a:bodyPr>
            <a:normAutofit/>
          </a:bodyPr>
          <a:lstStyle/>
          <a:p>
            <a:r>
              <a:rPr lang="en-US" sz="2200" dirty="0" err="1"/>
              <a:t>Pizzas’r’us</a:t>
            </a:r>
            <a:endParaRPr lang="en-US" sz="2200" dirty="0"/>
          </a:p>
          <a:p>
            <a:pPr lvl="1"/>
            <a:r>
              <a:rPr lang="en-US" sz="1800" dirty="0"/>
              <a:t>Small, fast evolving company</a:t>
            </a:r>
          </a:p>
          <a:p>
            <a:pPr lvl="1"/>
            <a:r>
              <a:rPr lang="en-US" sz="1800" dirty="0"/>
              <a:t>Small development team</a:t>
            </a:r>
          </a:p>
          <a:p>
            <a:r>
              <a:rPr lang="en-US" sz="2200" dirty="0"/>
              <a:t>Alexandria – Lead Dev</a:t>
            </a:r>
          </a:p>
          <a:p>
            <a:pPr lvl="1"/>
            <a:r>
              <a:rPr lang="en-US" sz="1800" dirty="0"/>
              <a:t>Many changes requested from Business Units</a:t>
            </a:r>
          </a:p>
          <a:p>
            <a:pPr lvl="1"/>
            <a:r>
              <a:rPr lang="en-US" sz="1800" dirty="0"/>
              <a:t>Business Units trying to adapt to evolving business environment</a:t>
            </a:r>
          </a:p>
          <a:p>
            <a:pPr lvl="1"/>
            <a:r>
              <a:rPr lang="en-US" sz="1800" dirty="0"/>
              <a:t>The biggest part of the changes are business rule changes</a:t>
            </a:r>
          </a:p>
          <a:p>
            <a:pPr lvl="1"/>
            <a:r>
              <a:rPr lang="en-US" sz="1800" dirty="0"/>
              <a:t>Alexandria feels like the bottleneck</a:t>
            </a:r>
          </a:p>
        </p:txBody>
      </p:sp>
      <p:pic>
        <p:nvPicPr>
          <p:cNvPr id="4" name="Picture 3">
            <a:extLst>
              <a:ext uri="{FF2B5EF4-FFF2-40B4-BE49-F238E27FC236}">
                <a16:creationId xmlns:a16="http://schemas.microsoft.com/office/drawing/2014/main" id="{55518957-3B2E-C7D2-8B03-A119BCEDEF40}"/>
              </a:ext>
            </a:extLst>
          </p:cNvPr>
          <p:cNvPicPr>
            <a:picLocks noChangeAspect="1"/>
          </p:cNvPicPr>
          <p:nvPr/>
        </p:nvPicPr>
        <p:blipFill>
          <a:blip r:embed="rId3"/>
          <a:stretch>
            <a:fillRect/>
          </a:stretch>
        </p:blipFill>
        <p:spPr>
          <a:xfrm>
            <a:off x="8447999" y="3002936"/>
            <a:ext cx="2142761" cy="2884488"/>
          </a:xfrm>
          <a:prstGeom prst="rect">
            <a:avLst/>
          </a:prstGeom>
        </p:spPr>
      </p:pic>
    </p:spTree>
    <p:extLst>
      <p:ext uri="{BB962C8B-B14F-4D97-AF65-F5344CB8AC3E}">
        <p14:creationId xmlns:p14="http://schemas.microsoft.com/office/powerpoint/2010/main" val="966711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06B4CC0-BDED-B9D3-A847-01342D2310A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14BB239-187E-F729-8AD4-1DA69273A2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35B184F-30FB-AA25-952A-B459FE43D2B5}"/>
              </a:ext>
            </a:extLst>
          </p:cNvPr>
          <p:cNvSpPr>
            <a:spLocks noGrp="1"/>
          </p:cNvSpPr>
          <p:nvPr>
            <p:ph type="title"/>
          </p:nvPr>
        </p:nvSpPr>
        <p:spPr>
          <a:xfrm>
            <a:off x="838200" y="365125"/>
            <a:ext cx="10515600" cy="1325563"/>
          </a:xfrm>
        </p:spPr>
        <p:txBody>
          <a:bodyPr>
            <a:normAutofit/>
          </a:bodyPr>
          <a:lstStyle/>
          <a:p>
            <a:r>
              <a:rPr lang="en-US" sz="5400" dirty="0"/>
              <a:t>Solution Research</a:t>
            </a:r>
          </a:p>
        </p:txBody>
      </p:sp>
      <p:sp>
        <p:nvSpPr>
          <p:cNvPr id="10" name="sketch line">
            <a:extLst>
              <a:ext uri="{FF2B5EF4-FFF2-40B4-BE49-F238E27FC236}">
                <a16:creationId xmlns:a16="http://schemas.microsoft.com/office/drawing/2014/main" id="{99F32EAE-1B3D-C6E2-71B2-2839B1058F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AE76935-EB5F-674B-F17B-F1D882ED1694}"/>
              </a:ext>
            </a:extLst>
          </p:cNvPr>
          <p:cNvSpPr>
            <a:spLocks noGrp="1"/>
          </p:cNvSpPr>
          <p:nvPr>
            <p:ph idx="1"/>
          </p:nvPr>
        </p:nvSpPr>
        <p:spPr>
          <a:xfrm>
            <a:off x="838200" y="1929384"/>
            <a:ext cx="10515600" cy="4251960"/>
          </a:xfrm>
        </p:spPr>
        <p:txBody>
          <a:bodyPr>
            <a:normAutofit/>
          </a:bodyPr>
          <a:lstStyle/>
          <a:p>
            <a:r>
              <a:rPr lang="en-US" sz="2400" dirty="0"/>
              <a:t>Research on what tools the Business uses day to day</a:t>
            </a:r>
          </a:p>
          <a:p>
            <a:r>
              <a:rPr lang="en-US" sz="2200" dirty="0"/>
              <a:t>Business users familiar with Excel</a:t>
            </a:r>
          </a:p>
          <a:p>
            <a:r>
              <a:rPr lang="en-US" sz="2200" dirty="0"/>
              <a:t>A larger IT team that are not Pro </a:t>
            </a:r>
            <a:r>
              <a:rPr lang="en-US" sz="2200" dirty="0" err="1"/>
              <a:t>devs</a:t>
            </a:r>
            <a:r>
              <a:rPr lang="en-US" sz="2200" dirty="0"/>
              <a:t>, but work in </a:t>
            </a:r>
            <a:r>
              <a:rPr lang="en-US" sz="2200" dirty="0" err="1"/>
              <a:t>PowerPlatform</a:t>
            </a:r>
            <a:endParaRPr lang="en-US" sz="2200" dirty="0"/>
          </a:p>
          <a:p>
            <a:pPr lvl="1"/>
            <a:r>
              <a:rPr lang="en-US" sz="1800" dirty="0"/>
              <a:t>PowerApps</a:t>
            </a:r>
          </a:p>
          <a:p>
            <a:pPr lvl="1"/>
            <a:r>
              <a:rPr lang="en-US" sz="1800" dirty="0" err="1"/>
              <a:t>PowerAutomate</a:t>
            </a:r>
            <a:endParaRPr lang="en-US" sz="1800" dirty="0"/>
          </a:p>
          <a:p>
            <a:endParaRPr lang="en-US" sz="2200" dirty="0"/>
          </a:p>
          <a:p>
            <a:pPr lvl="1"/>
            <a:endParaRPr lang="en-US" sz="1800" dirty="0"/>
          </a:p>
        </p:txBody>
      </p:sp>
    </p:spTree>
    <p:extLst>
      <p:ext uri="{BB962C8B-B14F-4D97-AF65-F5344CB8AC3E}">
        <p14:creationId xmlns:p14="http://schemas.microsoft.com/office/powerpoint/2010/main" val="23813181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DA839D3-D7AD-6D84-F91D-B0A19AD55E3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EED5B1-25F4-982F-C9B6-62DDF6DAE4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D542A7B-24C6-4CB5-EA31-789D351C2F94}"/>
              </a:ext>
            </a:extLst>
          </p:cNvPr>
          <p:cNvSpPr>
            <a:spLocks noGrp="1"/>
          </p:cNvSpPr>
          <p:nvPr>
            <p:ph type="title"/>
          </p:nvPr>
        </p:nvSpPr>
        <p:spPr>
          <a:xfrm>
            <a:off x="838200" y="365125"/>
            <a:ext cx="10515600" cy="1325563"/>
          </a:xfrm>
        </p:spPr>
        <p:txBody>
          <a:bodyPr>
            <a:normAutofit/>
          </a:bodyPr>
          <a:lstStyle/>
          <a:p>
            <a:r>
              <a:rPr lang="en-US" sz="5400" dirty="0"/>
              <a:t>Solution Space</a:t>
            </a:r>
          </a:p>
        </p:txBody>
      </p:sp>
      <p:sp>
        <p:nvSpPr>
          <p:cNvPr id="10" name="sketch line">
            <a:extLst>
              <a:ext uri="{FF2B5EF4-FFF2-40B4-BE49-F238E27FC236}">
                <a16:creationId xmlns:a16="http://schemas.microsoft.com/office/drawing/2014/main" id="{3B4940A2-BF2A-4891-5652-9C775294A4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D51548BD-3B41-D896-F2A3-6EC921AE9CD6}"/>
              </a:ext>
            </a:extLst>
          </p:cNvPr>
          <p:cNvSpPr>
            <a:spLocks noGrp="1"/>
          </p:cNvSpPr>
          <p:nvPr>
            <p:ph idx="1"/>
          </p:nvPr>
        </p:nvSpPr>
        <p:spPr>
          <a:xfrm>
            <a:off x="838200" y="1929384"/>
            <a:ext cx="10515600" cy="4251960"/>
          </a:xfrm>
        </p:spPr>
        <p:txBody>
          <a:bodyPr>
            <a:normAutofit/>
          </a:bodyPr>
          <a:lstStyle/>
          <a:p>
            <a:r>
              <a:rPr lang="en-US" sz="2400" dirty="0"/>
              <a:t>Business rules engine frameworks</a:t>
            </a:r>
          </a:p>
          <a:p>
            <a:pPr lvl="1"/>
            <a:r>
              <a:rPr lang="en-US" sz="1400" dirty="0"/>
              <a:t>Most are Java based, not a good fit for team</a:t>
            </a:r>
          </a:p>
          <a:p>
            <a:pPr lvl="1"/>
            <a:r>
              <a:rPr lang="en-US" sz="1400" dirty="0"/>
              <a:t>Another paradigm for business users to learn</a:t>
            </a:r>
          </a:p>
          <a:p>
            <a:r>
              <a:rPr lang="en-US" sz="1800" dirty="0"/>
              <a:t>Microsoft’s Rules Engine</a:t>
            </a:r>
          </a:p>
          <a:p>
            <a:pPr lvl="1"/>
            <a:r>
              <a:rPr lang="en-US" sz="1400" dirty="0">
                <a:hlinkClick r:id="rId3"/>
              </a:rPr>
              <a:t>https://github.com/microsoft/RulesEngine</a:t>
            </a:r>
            <a:endParaRPr lang="en-US" sz="1400" dirty="0"/>
          </a:p>
          <a:p>
            <a:pPr lvl="1"/>
            <a:r>
              <a:rPr lang="en-US" sz="1400" dirty="0"/>
              <a:t>Unfamiliar syntax for existing org</a:t>
            </a:r>
          </a:p>
          <a:p>
            <a:r>
              <a:rPr lang="en-US" sz="1800" dirty="0"/>
              <a:t>Graphical DSL</a:t>
            </a:r>
          </a:p>
          <a:p>
            <a:pPr lvl="1"/>
            <a:r>
              <a:rPr lang="en-US" sz="1400" dirty="0"/>
              <a:t>Classic Windows Workflows</a:t>
            </a:r>
          </a:p>
          <a:p>
            <a:r>
              <a:rPr lang="en-US" sz="1800" dirty="0" err="1"/>
              <a:t>PowerFX</a:t>
            </a:r>
            <a:endParaRPr lang="en-US" sz="1800" dirty="0"/>
          </a:p>
          <a:p>
            <a:pPr lvl="1"/>
            <a:endParaRPr lang="en-US" sz="1000" dirty="0"/>
          </a:p>
          <a:p>
            <a:endParaRPr lang="en-US" sz="1800" dirty="0"/>
          </a:p>
          <a:p>
            <a:endParaRPr lang="en-US" sz="2200" dirty="0"/>
          </a:p>
          <a:p>
            <a:pPr lvl="1"/>
            <a:endParaRPr lang="en-US" sz="1800" dirty="0"/>
          </a:p>
        </p:txBody>
      </p:sp>
    </p:spTree>
    <p:extLst>
      <p:ext uri="{BB962C8B-B14F-4D97-AF65-F5344CB8AC3E}">
        <p14:creationId xmlns:p14="http://schemas.microsoft.com/office/powerpoint/2010/main" val="15602229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9AE677F-C6E5-FFA4-6478-5D58E56AA59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F6F1046-F7CA-D566-9E0D-D15AB3B8D754}"/>
              </a:ext>
            </a:extLst>
          </p:cNvPr>
          <p:cNvSpPr>
            <a:spLocks noGrp="1"/>
          </p:cNvSpPr>
          <p:nvPr>
            <p:ph type="title"/>
          </p:nvPr>
        </p:nvSpPr>
        <p:spPr>
          <a:xfrm>
            <a:off x="686834" y="1153572"/>
            <a:ext cx="3200400" cy="4461163"/>
          </a:xfrm>
        </p:spPr>
        <p:txBody>
          <a:bodyPr>
            <a:normAutofit/>
          </a:bodyPr>
          <a:lstStyle/>
          <a:p>
            <a:r>
              <a:rPr lang="en-US">
                <a:solidFill>
                  <a:srgbClr val="FFFFFF"/>
                </a:solidFill>
              </a:rPr>
              <a:t>Intro to PowerFX</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8B69A762-FEC8-E2E1-6828-B3877AE8878A}"/>
              </a:ext>
            </a:extLst>
          </p:cNvPr>
          <p:cNvSpPr>
            <a:spLocks noGrp="1"/>
          </p:cNvSpPr>
          <p:nvPr>
            <p:ph idx="1"/>
          </p:nvPr>
        </p:nvSpPr>
        <p:spPr>
          <a:xfrm>
            <a:off x="4447308" y="591344"/>
            <a:ext cx="6906491" cy="5585619"/>
          </a:xfrm>
        </p:spPr>
        <p:txBody>
          <a:bodyPr anchor="ctr">
            <a:normAutofit/>
          </a:bodyPr>
          <a:lstStyle/>
          <a:p>
            <a:r>
              <a:rPr lang="en-US"/>
              <a:t>Business user friendly</a:t>
            </a:r>
          </a:p>
          <a:p>
            <a:r>
              <a:rPr lang="en-US"/>
              <a:t>Open sourced by Microsoft</a:t>
            </a:r>
          </a:p>
          <a:p>
            <a:r>
              <a:rPr lang="en-US"/>
              <a:t>Similar to Excel formulas</a:t>
            </a:r>
          </a:p>
          <a:p>
            <a:r>
              <a:rPr lang="en-US"/>
              <a:t>Use in many parts of the Power Platform</a:t>
            </a:r>
          </a:p>
          <a:p>
            <a:pPr lvl="1"/>
            <a:r>
              <a:rPr lang="en-US"/>
              <a:t>Many Experts, Tutorials, Articles, etc</a:t>
            </a:r>
          </a:p>
        </p:txBody>
      </p:sp>
    </p:spTree>
    <p:extLst>
      <p:ext uri="{BB962C8B-B14F-4D97-AF65-F5344CB8AC3E}">
        <p14:creationId xmlns:p14="http://schemas.microsoft.com/office/powerpoint/2010/main" val="27264052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7C3B51B-CD1E-84E5-E7B2-ED12B12BB2EC}"/>
              </a:ext>
            </a:extLst>
          </p:cNvPr>
          <p:cNvSpPr>
            <a:spLocks noGrp="1"/>
          </p:cNvSpPr>
          <p:nvPr>
            <p:ph type="ctrTitle"/>
          </p:nvPr>
        </p:nvSpPr>
        <p:spPr/>
        <p:txBody>
          <a:bodyPr/>
          <a:lstStyle/>
          <a:p>
            <a:r>
              <a:rPr lang="en-US" dirty="0"/>
              <a:t>Demo</a:t>
            </a:r>
          </a:p>
        </p:txBody>
      </p:sp>
      <p:sp>
        <p:nvSpPr>
          <p:cNvPr id="5" name="Subtitle 4">
            <a:extLst>
              <a:ext uri="{FF2B5EF4-FFF2-40B4-BE49-F238E27FC236}">
                <a16:creationId xmlns:a16="http://schemas.microsoft.com/office/drawing/2014/main" id="{C3E3E2C1-3777-0AA9-FFD7-C0605B1B0494}"/>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2535284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D378837-F088-4F73-261A-E994B5D75E04}"/>
              </a:ext>
            </a:extLst>
          </p:cNvPr>
          <p:cNvSpPr>
            <a:spLocks noGrp="1"/>
          </p:cNvSpPr>
          <p:nvPr>
            <p:ph type="title"/>
          </p:nvPr>
        </p:nvSpPr>
        <p:spPr>
          <a:xfrm>
            <a:off x="838200" y="365125"/>
            <a:ext cx="10515600" cy="1325563"/>
          </a:xfrm>
        </p:spPr>
        <p:txBody>
          <a:bodyPr>
            <a:normAutofit/>
          </a:bodyPr>
          <a:lstStyle/>
          <a:p>
            <a:r>
              <a:rPr lang="en-US" sz="4200"/>
              <a:t>Why we should consider using PowerFX from our .NET apps</a:t>
            </a:r>
          </a:p>
        </p:txBody>
      </p:sp>
      <p:sp>
        <p:nvSpPr>
          <p:cNvPr id="21"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137A397-DC3B-644A-C99A-F144996F9654}"/>
              </a:ext>
            </a:extLst>
          </p:cNvPr>
          <p:cNvSpPr>
            <a:spLocks noGrp="1"/>
          </p:cNvSpPr>
          <p:nvPr>
            <p:ph idx="1"/>
          </p:nvPr>
        </p:nvSpPr>
        <p:spPr>
          <a:xfrm>
            <a:off x="838200" y="1929384"/>
            <a:ext cx="10515600" cy="4251960"/>
          </a:xfrm>
        </p:spPr>
        <p:txBody>
          <a:bodyPr>
            <a:normAutofit/>
          </a:bodyPr>
          <a:lstStyle/>
          <a:p>
            <a:r>
              <a:rPr lang="en-US" sz="2200" dirty="0"/>
              <a:t>Tap into the power of </a:t>
            </a:r>
            <a:r>
              <a:rPr lang="en-US" sz="2200" dirty="0" err="1"/>
              <a:t>PowerFX</a:t>
            </a:r>
            <a:endParaRPr lang="en-US" sz="2200" dirty="0"/>
          </a:p>
          <a:p>
            <a:pPr lvl="1"/>
            <a:r>
              <a:rPr lang="en-US" sz="2200" dirty="0"/>
              <a:t>Business users already familiar</a:t>
            </a:r>
          </a:p>
          <a:p>
            <a:pPr lvl="1"/>
            <a:r>
              <a:rPr lang="en-US" sz="2200" dirty="0"/>
              <a:t>Answers on how-to already on Internet</a:t>
            </a:r>
          </a:p>
          <a:p>
            <a:pPr lvl="1"/>
            <a:r>
              <a:rPr lang="en-US" sz="2200" dirty="0"/>
              <a:t>Co-pilot support</a:t>
            </a:r>
          </a:p>
          <a:p>
            <a:r>
              <a:rPr lang="en-US" sz="2200" dirty="0"/>
              <a:t>Execution at runtime add dynamism to your app</a:t>
            </a:r>
          </a:p>
          <a:p>
            <a:r>
              <a:rPr lang="en-US" sz="2200" dirty="0"/>
              <a:t>Business/Mapping rules</a:t>
            </a:r>
          </a:p>
        </p:txBody>
      </p:sp>
    </p:spTree>
    <p:extLst>
      <p:ext uri="{BB962C8B-B14F-4D97-AF65-F5344CB8AC3E}">
        <p14:creationId xmlns:p14="http://schemas.microsoft.com/office/powerpoint/2010/main" val="14497389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ADEA4B-5943-9C48-48F5-5F88DA6978B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22E6497-D99D-3CE6-FF95-F68AABCA940B}"/>
              </a:ext>
            </a:extLst>
          </p:cNvPr>
          <p:cNvSpPr>
            <a:spLocks noGrp="1"/>
          </p:cNvSpPr>
          <p:nvPr>
            <p:ph type="ctrTitle"/>
          </p:nvPr>
        </p:nvSpPr>
        <p:spPr/>
        <p:txBody>
          <a:bodyPr/>
          <a:lstStyle/>
          <a:p>
            <a:r>
              <a:rPr lang="en-US" dirty="0"/>
              <a:t>Demo</a:t>
            </a:r>
          </a:p>
        </p:txBody>
      </p:sp>
      <p:sp>
        <p:nvSpPr>
          <p:cNvPr id="5" name="Subtitle 4">
            <a:extLst>
              <a:ext uri="{FF2B5EF4-FFF2-40B4-BE49-F238E27FC236}">
                <a16:creationId xmlns:a16="http://schemas.microsoft.com/office/drawing/2014/main" id="{06A25E4E-1025-7E29-9C12-1A362EE35AC1}"/>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5912796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C9BAADF-FBD1-96C2-B5CB-49D1AE99E6CC}"/>
              </a:ext>
            </a:extLst>
          </p:cNvPr>
          <p:cNvSpPr>
            <a:spLocks noGrp="1"/>
          </p:cNvSpPr>
          <p:nvPr>
            <p:ph type="title"/>
          </p:nvPr>
        </p:nvSpPr>
        <p:spPr>
          <a:xfrm>
            <a:off x="838200" y="365125"/>
            <a:ext cx="10515600" cy="1325563"/>
          </a:xfrm>
        </p:spPr>
        <p:txBody>
          <a:bodyPr>
            <a:normAutofit/>
          </a:bodyPr>
          <a:lstStyle/>
          <a:p>
            <a:r>
              <a:rPr lang="en-US" sz="4200"/>
              <a:t>How to run the PowerFX interpreter from .NET</a:t>
            </a:r>
          </a:p>
        </p:txBody>
      </p:sp>
      <p:sp>
        <p:nvSpPr>
          <p:cNvPr id="21"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9714051-6D8A-B5CC-084A-649ADEC99D71}"/>
              </a:ext>
            </a:extLst>
          </p:cNvPr>
          <p:cNvSpPr>
            <a:spLocks noGrp="1"/>
          </p:cNvSpPr>
          <p:nvPr>
            <p:ph idx="1"/>
          </p:nvPr>
        </p:nvSpPr>
        <p:spPr>
          <a:xfrm>
            <a:off x="838200" y="1929384"/>
            <a:ext cx="10515600" cy="4251960"/>
          </a:xfrm>
        </p:spPr>
        <p:txBody>
          <a:bodyPr>
            <a:normAutofit/>
          </a:bodyPr>
          <a:lstStyle/>
          <a:p>
            <a:r>
              <a:rPr lang="en-US" sz="2200" dirty="0"/>
              <a:t>Interpreter from Microsoft</a:t>
            </a:r>
          </a:p>
          <a:p>
            <a:pPr lvl="1"/>
            <a:r>
              <a:rPr lang="en-US" sz="2200" dirty="0">
                <a:hlinkClick r:id="rId2"/>
              </a:rPr>
              <a:t>https://github.com/microsoft/Power-Fx</a:t>
            </a:r>
            <a:endParaRPr lang="en-US" sz="2200" dirty="0"/>
          </a:p>
          <a:p>
            <a:r>
              <a:rPr lang="en-US" sz="2200" dirty="0"/>
              <a:t>Microsoft Samples:</a:t>
            </a:r>
          </a:p>
          <a:p>
            <a:pPr lvl="1"/>
            <a:r>
              <a:rPr lang="en-US" sz="2200" dirty="0">
                <a:hlinkClick r:id="rId3"/>
              </a:rPr>
              <a:t>https://github.com/microsoft/power-fx-host-samples</a:t>
            </a:r>
            <a:r>
              <a:rPr lang="en-US" sz="2200" dirty="0"/>
              <a:t> </a:t>
            </a:r>
          </a:p>
          <a:p>
            <a:r>
              <a:rPr lang="en-US" sz="2200" dirty="0"/>
              <a:t>Minimal Sample:</a:t>
            </a:r>
          </a:p>
          <a:p>
            <a:pPr lvl="1"/>
            <a:r>
              <a:rPr lang="en-US" sz="2200" dirty="0">
                <a:hlinkClick r:id="rId4"/>
              </a:rPr>
              <a:t>https://github.com/TheJuanitoLearnsShow/PuppyWorkbooks/blob/main/src/PuppyWorkbooks/5-Presentation/MinimalInterpreterExamples/Program.cs</a:t>
            </a:r>
            <a:endParaRPr lang="en-US" sz="2200" dirty="0"/>
          </a:p>
        </p:txBody>
      </p:sp>
    </p:spTree>
    <p:extLst>
      <p:ext uri="{BB962C8B-B14F-4D97-AF65-F5344CB8AC3E}">
        <p14:creationId xmlns:p14="http://schemas.microsoft.com/office/powerpoint/2010/main" val="8287619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1EEC2EE-058B-8395-CC11-FB36500DB031}"/>
            </a:ext>
          </a:extLst>
        </p:cNvPr>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FF80A3D5-7F77-FF7C-84E0-D770178BE1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C8A028F-72EC-7A19-A7FB-0A87C4C1E9D3}"/>
              </a:ext>
            </a:extLst>
          </p:cNvPr>
          <p:cNvSpPr>
            <a:spLocks noGrp="1"/>
          </p:cNvSpPr>
          <p:nvPr>
            <p:ph type="title"/>
          </p:nvPr>
        </p:nvSpPr>
        <p:spPr>
          <a:xfrm>
            <a:off x="838200" y="365125"/>
            <a:ext cx="10515600" cy="1325563"/>
          </a:xfrm>
        </p:spPr>
        <p:txBody>
          <a:bodyPr>
            <a:normAutofit/>
          </a:bodyPr>
          <a:lstStyle/>
          <a:p>
            <a:r>
              <a:rPr lang="en-US" sz="4200" dirty="0"/>
              <a:t>How to run the </a:t>
            </a:r>
            <a:r>
              <a:rPr lang="en-US" sz="4200" dirty="0" err="1"/>
              <a:t>PowerFX</a:t>
            </a:r>
            <a:r>
              <a:rPr lang="en-US" sz="4200" dirty="0"/>
              <a:t> interpreter from .NET</a:t>
            </a:r>
          </a:p>
        </p:txBody>
      </p:sp>
      <p:sp>
        <p:nvSpPr>
          <p:cNvPr id="21" name="sketch line">
            <a:extLst>
              <a:ext uri="{FF2B5EF4-FFF2-40B4-BE49-F238E27FC236}">
                <a16:creationId xmlns:a16="http://schemas.microsoft.com/office/drawing/2014/main" id="{8A32C08A-3FAB-2A97-9BA3-DEB6CA5308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DFBFC627-69DC-AD8A-E1DA-A63C6D11291E}"/>
              </a:ext>
            </a:extLst>
          </p:cNvPr>
          <p:cNvSpPr>
            <a:spLocks noGrp="1"/>
          </p:cNvSpPr>
          <p:nvPr>
            <p:ph idx="1"/>
          </p:nvPr>
        </p:nvSpPr>
        <p:spPr>
          <a:xfrm>
            <a:off x="838200" y="1929384"/>
            <a:ext cx="10515600" cy="4251960"/>
          </a:xfrm>
        </p:spPr>
        <p:txBody>
          <a:bodyPr>
            <a:normAutofit/>
          </a:bodyPr>
          <a:lstStyle/>
          <a:p>
            <a:r>
              <a:rPr lang="en-US" sz="2000" dirty="0"/>
              <a:t>Initialize engine</a:t>
            </a:r>
          </a:p>
          <a:p>
            <a:r>
              <a:rPr lang="en-US" sz="2000" dirty="0"/>
              <a:t>Add formulas</a:t>
            </a:r>
          </a:p>
          <a:p>
            <a:r>
              <a:rPr lang="en-US" sz="2000" dirty="0"/>
              <a:t>Evaluate formulas</a:t>
            </a:r>
          </a:p>
        </p:txBody>
      </p:sp>
    </p:spTree>
    <p:extLst>
      <p:ext uri="{BB962C8B-B14F-4D97-AF65-F5344CB8AC3E}">
        <p14:creationId xmlns:p14="http://schemas.microsoft.com/office/powerpoint/2010/main" val="32486581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1C2AC92-2A75-AAF8-1F3C-AC05D484F503}"/>
            </a:ext>
          </a:extLst>
        </p:cNvPr>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CCD0DA76-8025-8AB3-FC6E-E892BADBCF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AB8F743-8D02-A013-A215-801142BA4795}"/>
              </a:ext>
            </a:extLst>
          </p:cNvPr>
          <p:cNvSpPr>
            <a:spLocks noGrp="1"/>
          </p:cNvSpPr>
          <p:nvPr>
            <p:ph type="title"/>
          </p:nvPr>
        </p:nvSpPr>
        <p:spPr>
          <a:xfrm>
            <a:off x="838200" y="365125"/>
            <a:ext cx="10515600" cy="1325563"/>
          </a:xfrm>
        </p:spPr>
        <p:txBody>
          <a:bodyPr>
            <a:normAutofit/>
          </a:bodyPr>
          <a:lstStyle/>
          <a:p>
            <a:r>
              <a:rPr lang="en-US" sz="4200" dirty="0"/>
              <a:t>How to run the </a:t>
            </a:r>
            <a:r>
              <a:rPr lang="en-US" sz="4200" dirty="0" err="1"/>
              <a:t>PowerFX</a:t>
            </a:r>
            <a:r>
              <a:rPr lang="en-US" sz="4200" dirty="0"/>
              <a:t> interpreter from .NET</a:t>
            </a:r>
          </a:p>
        </p:txBody>
      </p:sp>
      <p:sp>
        <p:nvSpPr>
          <p:cNvPr id="21" name="sketch line">
            <a:extLst>
              <a:ext uri="{FF2B5EF4-FFF2-40B4-BE49-F238E27FC236}">
                <a16:creationId xmlns:a16="http://schemas.microsoft.com/office/drawing/2014/main" id="{997F5DF3-329B-3D3C-9B68-1C35998C9D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4298C200-E2FF-5691-3432-80594D0216C8}"/>
              </a:ext>
            </a:extLst>
          </p:cNvPr>
          <p:cNvSpPr>
            <a:spLocks noGrp="1"/>
          </p:cNvSpPr>
          <p:nvPr>
            <p:ph idx="1"/>
          </p:nvPr>
        </p:nvSpPr>
        <p:spPr>
          <a:xfrm>
            <a:off x="838200" y="1929384"/>
            <a:ext cx="10515600" cy="4251960"/>
          </a:xfrm>
        </p:spPr>
        <p:txBody>
          <a:bodyPr>
            <a:normAutofit/>
          </a:bodyPr>
          <a:lstStyle/>
          <a:p>
            <a:r>
              <a:rPr lang="en-US" sz="2000" dirty="0"/>
              <a:t>Initialize engine</a:t>
            </a:r>
          </a:p>
          <a:p>
            <a:r>
              <a:rPr lang="en-US" sz="2000" dirty="0"/>
              <a:t>Add formulas</a:t>
            </a:r>
          </a:p>
          <a:p>
            <a:r>
              <a:rPr lang="en-US" sz="2000" dirty="0"/>
              <a:t>Evaluate formulas</a:t>
            </a:r>
          </a:p>
        </p:txBody>
      </p:sp>
    </p:spTree>
    <p:extLst>
      <p:ext uri="{BB962C8B-B14F-4D97-AF65-F5344CB8AC3E}">
        <p14:creationId xmlns:p14="http://schemas.microsoft.com/office/powerpoint/2010/main" val="31744674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9AF090-DF03-2D55-E4A9-15476A51D55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707CD88-25BF-D5A2-57D4-231B23F3EA15}"/>
              </a:ext>
            </a:extLst>
          </p:cNvPr>
          <p:cNvSpPr>
            <a:spLocks noGrp="1"/>
          </p:cNvSpPr>
          <p:nvPr>
            <p:ph type="ctrTitle"/>
          </p:nvPr>
        </p:nvSpPr>
        <p:spPr/>
        <p:txBody>
          <a:bodyPr/>
          <a:lstStyle/>
          <a:p>
            <a:r>
              <a:rPr lang="en-US" dirty="0"/>
              <a:t>Demo</a:t>
            </a:r>
          </a:p>
        </p:txBody>
      </p:sp>
      <p:sp>
        <p:nvSpPr>
          <p:cNvPr id="5" name="Subtitle 4">
            <a:extLst>
              <a:ext uri="{FF2B5EF4-FFF2-40B4-BE49-F238E27FC236}">
                <a16:creationId xmlns:a16="http://schemas.microsoft.com/office/drawing/2014/main" id="{81CA869E-6C47-8B2D-CD47-CB6FF06E7544}"/>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8513206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E442304-DDBD-4F7B-8017-36BCC863FB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78DDB28-B859-7EE0-8147-A065102772CE}"/>
              </a:ext>
            </a:extLst>
          </p:cNvPr>
          <p:cNvSpPr>
            <a:spLocks noGrp="1"/>
          </p:cNvSpPr>
          <p:nvPr>
            <p:ph type="title"/>
          </p:nvPr>
        </p:nvSpPr>
        <p:spPr>
          <a:xfrm>
            <a:off x="635000" y="640823"/>
            <a:ext cx="3418659" cy="5583148"/>
          </a:xfrm>
        </p:spPr>
        <p:txBody>
          <a:bodyPr anchor="ctr">
            <a:normAutofit/>
          </a:bodyPr>
          <a:lstStyle/>
          <a:p>
            <a:r>
              <a:rPr lang="en-US" sz="5400"/>
              <a:t>The power of PowerFX in your apps!</a:t>
            </a:r>
          </a:p>
        </p:txBody>
      </p:sp>
      <p:sp>
        <p:nvSpPr>
          <p:cNvPr id="11" name="sketch line">
            <a:extLst>
              <a:ext uri="{FF2B5EF4-FFF2-40B4-BE49-F238E27FC236}">
                <a16:creationId xmlns:a16="http://schemas.microsoft.com/office/drawing/2014/main" id="{5E107275-3853-46FD-A241-DE4355A426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627450" y="3462719"/>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895758D9-3E9B-F7B8-8790-932AC7060478}"/>
              </a:ext>
            </a:extLst>
          </p:cNvPr>
          <p:cNvGraphicFramePr>
            <a:graphicFrameLocks noGrp="1"/>
          </p:cNvGraphicFramePr>
          <p:nvPr>
            <p:ph idx="1"/>
            <p:extLst>
              <p:ext uri="{D42A27DB-BD31-4B8C-83A1-F6EECF244321}">
                <p14:modId xmlns:p14="http://schemas.microsoft.com/office/powerpoint/2010/main" val="3183306137"/>
              </p:ext>
            </p:extLst>
          </p:nvPr>
        </p:nvGraphicFramePr>
        <p:xfrm>
          <a:off x="4648018" y="640822"/>
          <a:ext cx="6900512" cy="553614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97715755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47</TotalTime>
  <Words>906</Words>
  <Application>Microsoft Office PowerPoint</Application>
  <PresentationFormat>Widescreen</PresentationFormat>
  <Paragraphs>104</Paragraphs>
  <Slides>16</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Aptos</vt:lpstr>
      <vt:lpstr>Aptos Display</vt:lpstr>
      <vt:lpstr>Arial</vt:lpstr>
      <vt:lpstr>Wingdings</vt:lpstr>
      <vt:lpstr>Office Theme</vt:lpstr>
      <vt:lpstr>Embed PowerFX in your .NET Apps!</vt:lpstr>
      <vt:lpstr>Intro</vt:lpstr>
      <vt:lpstr>Today’s Talk</vt:lpstr>
      <vt:lpstr>Once upon a time in Pizzas’R’Us™…</vt:lpstr>
      <vt:lpstr>Problem scenario</vt:lpstr>
      <vt:lpstr>Solution Research</vt:lpstr>
      <vt:lpstr>Solution Space</vt:lpstr>
      <vt:lpstr>Intro to PowerFX</vt:lpstr>
      <vt:lpstr>Demo</vt:lpstr>
      <vt:lpstr>Why we should consider using PowerFX from our .NET apps</vt:lpstr>
      <vt:lpstr>Demo</vt:lpstr>
      <vt:lpstr>How to run the PowerFX interpreter from .NET</vt:lpstr>
      <vt:lpstr>How to run the PowerFX interpreter from .NET</vt:lpstr>
      <vt:lpstr>How to run the PowerFX interpreter from .NET</vt:lpstr>
      <vt:lpstr>Demo</vt:lpstr>
      <vt:lpstr>The power of PowerFX in your apps!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Juan Pablo Tarquino</dc:creator>
  <cp:lastModifiedBy>Juan Pablo Tarquino</cp:lastModifiedBy>
  <cp:revision>5</cp:revision>
  <dcterms:created xsi:type="dcterms:W3CDTF">2025-10-06T20:39:37Z</dcterms:created>
  <dcterms:modified xsi:type="dcterms:W3CDTF">2026-02-28T22:48:19Z</dcterms:modified>
</cp:coreProperties>
</file>