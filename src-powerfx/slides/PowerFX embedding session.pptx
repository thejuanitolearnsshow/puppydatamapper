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9"/>
  </p:notesMasterIdLst>
  <p:sldIdLst>
    <p:sldId id="256" r:id="rId2"/>
    <p:sldId id="272" r:id="rId3"/>
    <p:sldId id="257" r:id="rId4"/>
    <p:sldId id="271" r:id="rId5"/>
    <p:sldId id="258" r:id="rId6"/>
    <p:sldId id="273" r:id="rId7"/>
    <p:sldId id="267" r:id="rId8"/>
    <p:sldId id="268" r:id="rId9"/>
    <p:sldId id="265" r:id="rId10"/>
    <p:sldId id="260" r:id="rId11"/>
    <p:sldId id="259" r:id="rId12"/>
    <p:sldId id="261" r:id="rId13"/>
    <p:sldId id="262" r:id="rId14"/>
    <p:sldId id="269" r:id="rId15"/>
    <p:sldId id="270" r:id="rId16"/>
    <p:sldId id="263" r:id="rId17"/>
    <p:sldId id="264" r:id="rId1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autoAdjust="0"/>
    <p:restoredTop sz="64930" autoAdjust="0"/>
  </p:normalViewPr>
  <p:slideViewPr>
    <p:cSldViewPr snapToGrid="0">
      <p:cViewPr varScale="1">
        <p:scale>
          <a:sx n="67" d="100"/>
          <a:sy n="67" d="100"/>
        </p:scale>
        <p:origin x="1592" y="272"/>
      </p:cViewPr>
      <p:guideLst/>
    </p:cSldViewPr>
  </p:slideViewPr>
  <p:outlineViewPr>
    <p:cViewPr>
      <p:scale>
        <a:sx n="33" d="100"/>
        <a:sy n="33" d="100"/>
      </p:scale>
      <p:origin x="0" y="0"/>
    </p:cViewPr>
  </p:outlineViewPr>
  <p:notesTextViewPr>
    <p:cViewPr>
      <p:scale>
        <a:sx n="1" d="1"/>
        <a:sy n="1" d="1"/>
      </p:scale>
      <p:origin x="0" y="0"/>
    </p:cViewPr>
  </p:notesTextViewPr>
  <p:notesViewPr>
    <p:cSldViewPr snapToGrid="0">
      <p:cViewPr>
        <p:scale>
          <a:sx n="85" d="100"/>
          <a:sy n="85" d="100"/>
        </p:scale>
        <p:origin x="3112" y="144"/>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diagrams/colors1.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ACD7CB6C-B0BC-4110-BAC2-53A8A31C10D6}" type="doc">
      <dgm:prSet loTypeId="urn:microsoft.com/office/officeart/2008/layout/LinedList" loCatId="list" qsTypeId="urn:microsoft.com/office/officeart/2005/8/quickstyle/simple1" qsCatId="simple" csTypeId="urn:microsoft.com/office/officeart/2005/8/colors/colorful2" csCatId="colorful"/>
      <dgm:spPr/>
      <dgm:t>
        <a:bodyPr/>
        <a:lstStyle/>
        <a:p>
          <a:endParaRPr lang="en-US"/>
        </a:p>
      </dgm:t>
    </dgm:pt>
    <dgm:pt modelId="{9F22FD91-BFDF-478E-8688-D71503BE8220}">
      <dgm:prSet/>
      <dgm:spPr/>
      <dgm:t>
        <a:bodyPr/>
        <a:lstStyle/>
        <a:p>
          <a:r>
            <a:rPr lang="en-US"/>
            <a:t>PowerFX is a popular, powerful and business friendly language</a:t>
          </a:r>
        </a:p>
      </dgm:t>
    </dgm:pt>
    <dgm:pt modelId="{4D9F0E45-37FC-4E37-A591-7784C215E823}" type="parTrans" cxnId="{0B1DC64C-B731-44C3-A689-BE3552F5141B}">
      <dgm:prSet/>
      <dgm:spPr/>
      <dgm:t>
        <a:bodyPr/>
        <a:lstStyle/>
        <a:p>
          <a:endParaRPr lang="en-US"/>
        </a:p>
      </dgm:t>
    </dgm:pt>
    <dgm:pt modelId="{862DDF67-7B07-4156-A1B6-14FA0C5D4D18}" type="sibTrans" cxnId="{0B1DC64C-B731-44C3-A689-BE3552F5141B}">
      <dgm:prSet/>
      <dgm:spPr/>
      <dgm:t>
        <a:bodyPr/>
        <a:lstStyle/>
        <a:p>
          <a:endParaRPr lang="en-US"/>
        </a:p>
      </dgm:t>
    </dgm:pt>
    <dgm:pt modelId="{C09FB9AA-EDA5-4A06-B215-2E1FF6995028}">
      <dgm:prSet/>
      <dgm:spPr/>
      <dgm:t>
        <a:bodyPr/>
        <a:lstStyle/>
        <a:p>
          <a:r>
            <a:rPr lang="en-US"/>
            <a:t>Microsoft provides an interpreter for .NET</a:t>
          </a:r>
        </a:p>
      </dgm:t>
    </dgm:pt>
    <dgm:pt modelId="{E7B05BA3-DA5D-4684-A4C5-78EE3F67565D}" type="parTrans" cxnId="{5966FA71-ADAB-43F5-85CD-712FADE0F724}">
      <dgm:prSet/>
      <dgm:spPr/>
      <dgm:t>
        <a:bodyPr/>
        <a:lstStyle/>
        <a:p>
          <a:endParaRPr lang="en-US"/>
        </a:p>
      </dgm:t>
    </dgm:pt>
    <dgm:pt modelId="{0E5F0E21-752E-45B0-83C1-4D661A32833F}" type="sibTrans" cxnId="{5966FA71-ADAB-43F5-85CD-712FADE0F724}">
      <dgm:prSet/>
      <dgm:spPr/>
      <dgm:t>
        <a:bodyPr/>
        <a:lstStyle/>
        <a:p>
          <a:endParaRPr lang="en-US"/>
        </a:p>
      </dgm:t>
    </dgm:pt>
    <dgm:pt modelId="{D4AA6050-A446-4205-9F26-6392DBC9FF76}">
      <dgm:prSet/>
      <dgm:spPr/>
      <dgm:t>
        <a:bodyPr/>
        <a:lstStyle/>
        <a:p>
          <a:r>
            <a:rPr lang="en-US"/>
            <a:t>Your app can evaluate PowerFX formulas at runtime</a:t>
          </a:r>
        </a:p>
      </dgm:t>
    </dgm:pt>
    <dgm:pt modelId="{24B04525-C14F-4F54-85F6-0C79937A557C}" type="parTrans" cxnId="{1A0D5AC6-8A8C-43A2-9EAF-683992ED6DEC}">
      <dgm:prSet/>
      <dgm:spPr/>
      <dgm:t>
        <a:bodyPr/>
        <a:lstStyle/>
        <a:p>
          <a:endParaRPr lang="en-US"/>
        </a:p>
      </dgm:t>
    </dgm:pt>
    <dgm:pt modelId="{8053691E-B2AD-4E60-ACE3-BE1D6324FCE1}" type="sibTrans" cxnId="{1A0D5AC6-8A8C-43A2-9EAF-683992ED6DEC}">
      <dgm:prSet/>
      <dgm:spPr/>
      <dgm:t>
        <a:bodyPr/>
        <a:lstStyle/>
        <a:p>
          <a:endParaRPr lang="en-US"/>
        </a:p>
      </dgm:t>
    </dgm:pt>
    <dgm:pt modelId="{8572A613-82D9-49CE-BC5E-88C879995121}" type="pres">
      <dgm:prSet presAssocID="{ACD7CB6C-B0BC-4110-BAC2-53A8A31C10D6}" presName="vert0" presStyleCnt="0">
        <dgm:presLayoutVars>
          <dgm:dir/>
          <dgm:animOne val="branch"/>
          <dgm:animLvl val="lvl"/>
        </dgm:presLayoutVars>
      </dgm:prSet>
      <dgm:spPr/>
    </dgm:pt>
    <dgm:pt modelId="{BA4F1152-9D73-4CFC-90B3-FB12FD108D6B}" type="pres">
      <dgm:prSet presAssocID="{9F22FD91-BFDF-478E-8688-D71503BE8220}" presName="thickLine" presStyleLbl="alignNode1" presStyleIdx="0" presStyleCnt="3"/>
      <dgm:spPr/>
    </dgm:pt>
    <dgm:pt modelId="{83C8EEDD-2C5A-43AE-BB70-01BB5946A89E}" type="pres">
      <dgm:prSet presAssocID="{9F22FD91-BFDF-478E-8688-D71503BE8220}" presName="horz1" presStyleCnt="0"/>
      <dgm:spPr/>
    </dgm:pt>
    <dgm:pt modelId="{34386AE2-F37D-4B72-A1D5-AAAC37207C6C}" type="pres">
      <dgm:prSet presAssocID="{9F22FD91-BFDF-478E-8688-D71503BE8220}" presName="tx1" presStyleLbl="revTx" presStyleIdx="0" presStyleCnt="3"/>
      <dgm:spPr/>
    </dgm:pt>
    <dgm:pt modelId="{5D5AB14E-2257-4689-8CD0-C264C0519CFC}" type="pres">
      <dgm:prSet presAssocID="{9F22FD91-BFDF-478E-8688-D71503BE8220}" presName="vert1" presStyleCnt="0"/>
      <dgm:spPr/>
    </dgm:pt>
    <dgm:pt modelId="{A414CF4D-6425-4C55-9569-45B86971CFDA}" type="pres">
      <dgm:prSet presAssocID="{C09FB9AA-EDA5-4A06-B215-2E1FF6995028}" presName="thickLine" presStyleLbl="alignNode1" presStyleIdx="1" presStyleCnt="3"/>
      <dgm:spPr/>
    </dgm:pt>
    <dgm:pt modelId="{25DA8EA6-071E-4658-8443-C16190C78661}" type="pres">
      <dgm:prSet presAssocID="{C09FB9AA-EDA5-4A06-B215-2E1FF6995028}" presName="horz1" presStyleCnt="0"/>
      <dgm:spPr/>
    </dgm:pt>
    <dgm:pt modelId="{90575A51-9BC9-4CB5-948C-C6297AB75179}" type="pres">
      <dgm:prSet presAssocID="{C09FB9AA-EDA5-4A06-B215-2E1FF6995028}" presName="tx1" presStyleLbl="revTx" presStyleIdx="1" presStyleCnt="3"/>
      <dgm:spPr/>
    </dgm:pt>
    <dgm:pt modelId="{B4DA2838-E3D0-4F5D-9DC7-4187DCFEB259}" type="pres">
      <dgm:prSet presAssocID="{C09FB9AA-EDA5-4A06-B215-2E1FF6995028}" presName="vert1" presStyleCnt="0"/>
      <dgm:spPr/>
    </dgm:pt>
    <dgm:pt modelId="{E69807BF-576B-4452-901C-A24836D87E64}" type="pres">
      <dgm:prSet presAssocID="{D4AA6050-A446-4205-9F26-6392DBC9FF76}" presName="thickLine" presStyleLbl="alignNode1" presStyleIdx="2" presStyleCnt="3"/>
      <dgm:spPr/>
    </dgm:pt>
    <dgm:pt modelId="{171C75A0-BFCE-4A07-A1DA-993745610395}" type="pres">
      <dgm:prSet presAssocID="{D4AA6050-A446-4205-9F26-6392DBC9FF76}" presName="horz1" presStyleCnt="0"/>
      <dgm:spPr/>
    </dgm:pt>
    <dgm:pt modelId="{BAC8619D-CD0D-48E6-981E-7390C29F4C42}" type="pres">
      <dgm:prSet presAssocID="{D4AA6050-A446-4205-9F26-6392DBC9FF76}" presName="tx1" presStyleLbl="revTx" presStyleIdx="2" presStyleCnt="3"/>
      <dgm:spPr/>
    </dgm:pt>
    <dgm:pt modelId="{F5F7618D-30CD-4A86-8BB6-9E0274C32B44}" type="pres">
      <dgm:prSet presAssocID="{D4AA6050-A446-4205-9F26-6392DBC9FF76}" presName="vert1" presStyleCnt="0"/>
      <dgm:spPr/>
    </dgm:pt>
  </dgm:ptLst>
  <dgm:cxnLst>
    <dgm:cxn modelId="{39E9B038-37C3-4DF3-9AF7-6AAC89C81E7C}" type="presOf" srcId="{ACD7CB6C-B0BC-4110-BAC2-53A8A31C10D6}" destId="{8572A613-82D9-49CE-BC5E-88C879995121}" srcOrd="0" destOrd="0" presId="urn:microsoft.com/office/officeart/2008/layout/LinedList"/>
    <dgm:cxn modelId="{0B1DC64C-B731-44C3-A689-BE3552F5141B}" srcId="{ACD7CB6C-B0BC-4110-BAC2-53A8A31C10D6}" destId="{9F22FD91-BFDF-478E-8688-D71503BE8220}" srcOrd="0" destOrd="0" parTransId="{4D9F0E45-37FC-4E37-A591-7784C215E823}" sibTransId="{862DDF67-7B07-4156-A1B6-14FA0C5D4D18}"/>
    <dgm:cxn modelId="{5966FA71-ADAB-43F5-85CD-712FADE0F724}" srcId="{ACD7CB6C-B0BC-4110-BAC2-53A8A31C10D6}" destId="{C09FB9AA-EDA5-4A06-B215-2E1FF6995028}" srcOrd="1" destOrd="0" parTransId="{E7B05BA3-DA5D-4684-A4C5-78EE3F67565D}" sibTransId="{0E5F0E21-752E-45B0-83C1-4D661A32833F}"/>
    <dgm:cxn modelId="{B593DC7D-690E-4DB8-AA6A-4FA51FD01AD6}" type="presOf" srcId="{9F22FD91-BFDF-478E-8688-D71503BE8220}" destId="{34386AE2-F37D-4B72-A1D5-AAAC37207C6C}" srcOrd="0" destOrd="0" presId="urn:microsoft.com/office/officeart/2008/layout/LinedList"/>
    <dgm:cxn modelId="{266CE492-0BBF-4248-8515-B479046CDB21}" type="presOf" srcId="{D4AA6050-A446-4205-9F26-6392DBC9FF76}" destId="{BAC8619D-CD0D-48E6-981E-7390C29F4C42}" srcOrd="0" destOrd="0" presId="urn:microsoft.com/office/officeart/2008/layout/LinedList"/>
    <dgm:cxn modelId="{1A0D5AC6-8A8C-43A2-9EAF-683992ED6DEC}" srcId="{ACD7CB6C-B0BC-4110-BAC2-53A8A31C10D6}" destId="{D4AA6050-A446-4205-9F26-6392DBC9FF76}" srcOrd="2" destOrd="0" parTransId="{24B04525-C14F-4F54-85F6-0C79937A557C}" sibTransId="{8053691E-B2AD-4E60-ACE3-BE1D6324FCE1}"/>
    <dgm:cxn modelId="{B3ED93F7-0E40-4AF5-86AC-23E4BAB9EC7E}" type="presOf" srcId="{C09FB9AA-EDA5-4A06-B215-2E1FF6995028}" destId="{90575A51-9BC9-4CB5-948C-C6297AB75179}" srcOrd="0" destOrd="0" presId="urn:microsoft.com/office/officeart/2008/layout/LinedList"/>
    <dgm:cxn modelId="{941F44F0-14AF-49EB-9E52-6D29151F5736}" type="presParOf" srcId="{8572A613-82D9-49CE-BC5E-88C879995121}" destId="{BA4F1152-9D73-4CFC-90B3-FB12FD108D6B}" srcOrd="0" destOrd="0" presId="urn:microsoft.com/office/officeart/2008/layout/LinedList"/>
    <dgm:cxn modelId="{EAEFB035-AC2E-45D5-81E1-D7E454C59682}" type="presParOf" srcId="{8572A613-82D9-49CE-BC5E-88C879995121}" destId="{83C8EEDD-2C5A-43AE-BB70-01BB5946A89E}" srcOrd="1" destOrd="0" presId="urn:microsoft.com/office/officeart/2008/layout/LinedList"/>
    <dgm:cxn modelId="{850C83FC-900D-427B-80B7-DEE6F26E7080}" type="presParOf" srcId="{83C8EEDD-2C5A-43AE-BB70-01BB5946A89E}" destId="{34386AE2-F37D-4B72-A1D5-AAAC37207C6C}" srcOrd="0" destOrd="0" presId="urn:microsoft.com/office/officeart/2008/layout/LinedList"/>
    <dgm:cxn modelId="{618D7578-CFEA-4E1C-9FDB-08C23401B259}" type="presParOf" srcId="{83C8EEDD-2C5A-43AE-BB70-01BB5946A89E}" destId="{5D5AB14E-2257-4689-8CD0-C264C0519CFC}" srcOrd="1" destOrd="0" presId="urn:microsoft.com/office/officeart/2008/layout/LinedList"/>
    <dgm:cxn modelId="{AD6B9125-18E6-440A-8E4A-732AE2DAC9C7}" type="presParOf" srcId="{8572A613-82D9-49CE-BC5E-88C879995121}" destId="{A414CF4D-6425-4C55-9569-45B86971CFDA}" srcOrd="2" destOrd="0" presId="urn:microsoft.com/office/officeart/2008/layout/LinedList"/>
    <dgm:cxn modelId="{2EB61467-1756-40FA-891C-BA7DC81BBCBD}" type="presParOf" srcId="{8572A613-82D9-49CE-BC5E-88C879995121}" destId="{25DA8EA6-071E-4658-8443-C16190C78661}" srcOrd="3" destOrd="0" presId="urn:microsoft.com/office/officeart/2008/layout/LinedList"/>
    <dgm:cxn modelId="{6526590D-C45F-4A41-B538-0DFD92C91FBD}" type="presParOf" srcId="{25DA8EA6-071E-4658-8443-C16190C78661}" destId="{90575A51-9BC9-4CB5-948C-C6297AB75179}" srcOrd="0" destOrd="0" presId="urn:microsoft.com/office/officeart/2008/layout/LinedList"/>
    <dgm:cxn modelId="{BB0FF82B-7687-4F28-8FFF-68240A1233CA}" type="presParOf" srcId="{25DA8EA6-071E-4658-8443-C16190C78661}" destId="{B4DA2838-E3D0-4F5D-9DC7-4187DCFEB259}" srcOrd="1" destOrd="0" presId="urn:microsoft.com/office/officeart/2008/layout/LinedList"/>
    <dgm:cxn modelId="{13507CB6-0B73-4635-966E-537A43F69542}" type="presParOf" srcId="{8572A613-82D9-49CE-BC5E-88C879995121}" destId="{E69807BF-576B-4452-901C-A24836D87E64}" srcOrd="4" destOrd="0" presId="urn:microsoft.com/office/officeart/2008/layout/LinedList"/>
    <dgm:cxn modelId="{C8CFC853-6F3F-4C90-9C97-F0B543CE5E27}" type="presParOf" srcId="{8572A613-82D9-49CE-BC5E-88C879995121}" destId="{171C75A0-BFCE-4A07-A1DA-993745610395}" srcOrd="5" destOrd="0" presId="urn:microsoft.com/office/officeart/2008/layout/LinedList"/>
    <dgm:cxn modelId="{582FE453-DAB1-43F4-9AAB-6F33753C22DA}" type="presParOf" srcId="{171C75A0-BFCE-4A07-A1DA-993745610395}" destId="{BAC8619D-CD0D-48E6-981E-7390C29F4C42}" srcOrd="0" destOrd="0" presId="urn:microsoft.com/office/officeart/2008/layout/LinedList"/>
    <dgm:cxn modelId="{343DCA76-513B-4CDB-9144-CF03FB39F37D}" type="presParOf" srcId="{171C75A0-BFCE-4A07-A1DA-993745610395}" destId="{F5F7618D-30CD-4A86-8BB6-9E0274C32B44}" srcOrd="1" destOrd="0" presId="urn:microsoft.com/office/officeart/2008/layout/Line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A4F1152-9D73-4CFC-90B3-FB12FD108D6B}">
      <dsp:nvSpPr>
        <dsp:cNvPr id="0" name=""/>
        <dsp:cNvSpPr/>
      </dsp:nvSpPr>
      <dsp:spPr>
        <a:xfrm>
          <a:off x="0" y="2703"/>
          <a:ext cx="6900512" cy="0"/>
        </a:xfrm>
        <a:prstGeom prst="line">
          <a:avLst/>
        </a:prstGeom>
        <a:solidFill>
          <a:schemeClr val="accent2">
            <a:hueOff val="0"/>
            <a:satOff val="0"/>
            <a:lumOff val="0"/>
            <a:alphaOff val="0"/>
          </a:schemeClr>
        </a:solidFill>
        <a:ln w="1905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34386AE2-F37D-4B72-A1D5-AAAC37207C6C}">
      <dsp:nvSpPr>
        <dsp:cNvPr id="0" name=""/>
        <dsp:cNvSpPr/>
      </dsp:nvSpPr>
      <dsp:spPr>
        <a:xfrm>
          <a:off x="0" y="2703"/>
          <a:ext cx="6900512" cy="184357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48590" tIns="148590" rIns="148590" bIns="148590" numCol="1" spcCol="1270" anchor="t" anchorCtr="0">
          <a:noAutofit/>
        </a:bodyPr>
        <a:lstStyle/>
        <a:p>
          <a:pPr marL="0" lvl="0" indent="0" algn="l" defTabSz="1733550">
            <a:lnSpc>
              <a:spcPct val="90000"/>
            </a:lnSpc>
            <a:spcBef>
              <a:spcPct val="0"/>
            </a:spcBef>
            <a:spcAft>
              <a:spcPct val="35000"/>
            </a:spcAft>
            <a:buNone/>
          </a:pPr>
          <a:r>
            <a:rPr lang="en-US" sz="3900" kern="1200"/>
            <a:t>PowerFX is a popular, powerful and business friendly language</a:t>
          </a:r>
        </a:p>
      </dsp:txBody>
      <dsp:txXfrm>
        <a:off x="0" y="2703"/>
        <a:ext cx="6900512" cy="1843578"/>
      </dsp:txXfrm>
    </dsp:sp>
    <dsp:sp modelId="{A414CF4D-6425-4C55-9569-45B86971CFDA}">
      <dsp:nvSpPr>
        <dsp:cNvPr id="0" name=""/>
        <dsp:cNvSpPr/>
      </dsp:nvSpPr>
      <dsp:spPr>
        <a:xfrm>
          <a:off x="0" y="1846281"/>
          <a:ext cx="6900512" cy="0"/>
        </a:xfrm>
        <a:prstGeom prst="line">
          <a:avLst/>
        </a:prstGeom>
        <a:solidFill>
          <a:schemeClr val="accent2">
            <a:hueOff val="3221807"/>
            <a:satOff val="-9246"/>
            <a:lumOff val="-14805"/>
            <a:alphaOff val="0"/>
          </a:schemeClr>
        </a:solidFill>
        <a:ln w="19050" cap="flat" cmpd="sng" algn="ctr">
          <a:solidFill>
            <a:schemeClr val="accent2">
              <a:hueOff val="3221807"/>
              <a:satOff val="-9246"/>
              <a:lumOff val="-14805"/>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90575A51-9BC9-4CB5-948C-C6297AB75179}">
      <dsp:nvSpPr>
        <dsp:cNvPr id="0" name=""/>
        <dsp:cNvSpPr/>
      </dsp:nvSpPr>
      <dsp:spPr>
        <a:xfrm>
          <a:off x="0" y="1846281"/>
          <a:ext cx="6900512" cy="184357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48590" tIns="148590" rIns="148590" bIns="148590" numCol="1" spcCol="1270" anchor="t" anchorCtr="0">
          <a:noAutofit/>
        </a:bodyPr>
        <a:lstStyle/>
        <a:p>
          <a:pPr marL="0" lvl="0" indent="0" algn="l" defTabSz="1733550">
            <a:lnSpc>
              <a:spcPct val="90000"/>
            </a:lnSpc>
            <a:spcBef>
              <a:spcPct val="0"/>
            </a:spcBef>
            <a:spcAft>
              <a:spcPct val="35000"/>
            </a:spcAft>
            <a:buNone/>
          </a:pPr>
          <a:r>
            <a:rPr lang="en-US" sz="3900" kern="1200"/>
            <a:t>Microsoft provides an interpreter for .NET</a:t>
          </a:r>
        </a:p>
      </dsp:txBody>
      <dsp:txXfrm>
        <a:off x="0" y="1846281"/>
        <a:ext cx="6900512" cy="1843578"/>
      </dsp:txXfrm>
    </dsp:sp>
    <dsp:sp modelId="{E69807BF-576B-4452-901C-A24836D87E64}">
      <dsp:nvSpPr>
        <dsp:cNvPr id="0" name=""/>
        <dsp:cNvSpPr/>
      </dsp:nvSpPr>
      <dsp:spPr>
        <a:xfrm>
          <a:off x="0" y="3689859"/>
          <a:ext cx="6900512" cy="0"/>
        </a:xfrm>
        <a:prstGeom prst="line">
          <a:avLst/>
        </a:prstGeom>
        <a:solidFill>
          <a:schemeClr val="accent2">
            <a:hueOff val="6443614"/>
            <a:satOff val="-18493"/>
            <a:lumOff val="-29609"/>
            <a:alphaOff val="0"/>
          </a:schemeClr>
        </a:solidFill>
        <a:ln w="19050" cap="flat" cmpd="sng" algn="ctr">
          <a:solidFill>
            <a:schemeClr val="accent2">
              <a:hueOff val="6443614"/>
              <a:satOff val="-18493"/>
              <a:lumOff val="-29609"/>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BAC8619D-CD0D-48E6-981E-7390C29F4C42}">
      <dsp:nvSpPr>
        <dsp:cNvPr id="0" name=""/>
        <dsp:cNvSpPr/>
      </dsp:nvSpPr>
      <dsp:spPr>
        <a:xfrm>
          <a:off x="0" y="3689859"/>
          <a:ext cx="6900512" cy="184357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48590" tIns="148590" rIns="148590" bIns="148590" numCol="1" spcCol="1270" anchor="t" anchorCtr="0">
          <a:noAutofit/>
        </a:bodyPr>
        <a:lstStyle/>
        <a:p>
          <a:pPr marL="0" lvl="0" indent="0" algn="l" defTabSz="1733550">
            <a:lnSpc>
              <a:spcPct val="90000"/>
            </a:lnSpc>
            <a:spcBef>
              <a:spcPct val="0"/>
            </a:spcBef>
            <a:spcAft>
              <a:spcPct val="35000"/>
            </a:spcAft>
            <a:buNone/>
          </a:pPr>
          <a:r>
            <a:rPr lang="en-US" sz="3900" kern="1200"/>
            <a:t>Your app can evaluate PowerFX formulas at runtime</a:t>
          </a:r>
        </a:p>
      </dsp:txBody>
      <dsp:txXfrm>
        <a:off x="0" y="3689859"/>
        <a:ext cx="6900512" cy="1843578"/>
      </dsp:txXfrm>
    </dsp:sp>
  </dsp:spTree>
</dsp:drawing>
</file>

<file path=ppt/diagrams/layout1.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3F0FD94-F7CE-4D08-B49E-5E530976B685}" type="datetimeFigureOut">
              <a:rPr lang="en-US" smtClean="0"/>
              <a:t>3/4/2026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3FADD39-AB8A-4278-99D9-40CD8D745BA1}" type="slidenum">
              <a:rPr lang="en-US" smtClean="0"/>
              <a:t>‹#›</a:t>
            </a:fld>
            <a:endParaRPr lang="en-US"/>
          </a:p>
        </p:txBody>
      </p:sp>
    </p:spTree>
    <p:extLst>
      <p:ext uri="{BB962C8B-B14F-4D97-AF65-F5344CB8AC3E}">
        <p14:creationId xmlns:p14="http://schemas.microsoft.com/office/powerpoint/2010/main" val="320936180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A3FADD39-AB8A-4278-99D9-40CD8D745BA1}" type="slidenum">
              <a:rPr lang="en-US" smtClean="0"/>
              <a:t>1</a:t>
            </a:fld>
            <a:endParaRPr lang="en-US"/>
          </a:p>
        </p:txBody>
      </p:sp>
    </p:spTree>
    <p:extLst>
      <p:ext uri="{BB962C8B-B14F-4D97-AF65-F5344CB8AC3E}">
        <p14:creationId xmlns:p14="http://schemas.microsoft.com/office/powerpoint/2010/main" val="291971066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My name is Juan Tarquino, I am software developer with 20 years of experience, mostly .NET and SQL, but I also did some Ruby and Java and even a dialect of Cobol earlier in my career.</a:t>
            </a:r>
          </a:p>
          <a:p>
            <a:r>
              <a:rPr lang="en-US" dirty="0"/>
              <a:t>Here is my linked in link, if you wish to contact me with questions or comments after the conference, or if you would just like to connect.</a:t>
            </a:r>
          </a:p>
          <a:p>
            <a:r>
              <a:rPr lang="en-US" dirty="0"/>
              <a:t>The sample GitHub repository for this session is at this link (QR code).</a:t>
            </a:r>
          </a:p>
          <a:p>
            <a:r>
              <a:rPr lang="en-US" dirty="0"/>
              <a:t>I know is hard to believe but I was not born in this country, so I do have an accent. Please feel free to ask me to repeat or to clarify things if there is something I am not explaining clearly. I will not be offended at all.</a:t>
            </a:r>
          </a:p>
        </p:txBody>
      </p:sp>
      <p:sp>
        <p:nvSpPr>
          <p:cNvPr id="4" name="Slide Number Placeholder 3"/>
          <p:cNvSpPr>
            <a:spLocks noGrp="1"/>
          </p:cNvSpPr>
          <p:nvPr>
            <p:ph type="sldNum" sz="quarter" idx="5"/>
          </p:nvPr>
        </p:nvSpPr>
        <p:spPr/>
        <p:txBody>
          <a:bodyPr/>
          <a:lstStyle/>
          <a:p>
            <a:fld id="{CDDD3684-6E52-4019-8D61-A9B0BAC0DBD6}" type="slidenum">
              <a:rPr lang="en-US" smtClean="0"/>
              <a:t>2</a:t>
            </a:fld>
            <a:endParaRPr lang="en-US"/>
          </a:p>
        </p:txBody>
      </p:sp>
    </p:spTree>
    <p:extLst>
      <p:ext uri="{BB962C8B-B14F-4D97-AF65-F5344CB8AC3E}">
        <p14:creationId xmlns:p14="http://schemas.microsoft.com/office/powerpoint/2010/main" val="246961787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Today we will talk about how to use </a:t>
            </a:r>
            <a:r>
              <a:rPr lang="en-US" dirty="0" err="1"/>
              <a:t>PowerFX</a:t>
            </a:r>
            <a:r>
              <a:rPr lang="en-US" dirty="0"/>
              <a:t> from a .NET app. But before we move to that we will first go through a pretend scenario that will describe a problem that many Dev teams in the enterprise face.</a:t>
            </a:r>
          </a:p>
          <a:p>
            <a:r>
              <a:rPr lang="en-US" dirty="0"/>
              <a:t>We will then introduce what </a:t>
            </a:r>
            <a:r>
              <a:rPr lang="en-US" dirty="0" err="1"/>
              <a:t>PowerFX</a:t>
            </a:r>
            <a:r>
              <a:rPr lang="en-US" dirty="0"/>
              <a:t> is and how it can be a solution to the problem stated. </a:t>
            </a:r>
          </a:p>
          <a:p>
            <a:r>
              <a:rPr lang="en-US" dirty="0"/>
              <a:t>We will then move to how we can embed a </a:t>
            </a:r>
            <a:r>
              <a:rPr lang="en-US" dirty="0" err="1"/>
              <a:t>PowerFX</a:t>
            </a:r>
            <a:r>
              <a:rPr lang="en-US" dirty="0"/>
              <a:t> </a:t>
            </a:r>
            <a:r>
              <a:rPr lang="en-US" dirty="0" err="1"/>
              <a:t>interpereter</a:t>
            </a:r>
            <a:r>
              <a:rPr lang="en-US" dirty="0"/>
              <a:t> from a </a:t>
            </a:r>
            <a:r>
              <a:rPr lang="en-US" dirty="0" err="1"/>
              <a:t>.net</a:t>
            </a:r>
            <a:r>
              <a:rPr lang="en-US" dirty="0"/>
              <a:t> app in order to run </a:t>
            </a:r>
            <a:r>
              <a:rPr lang="en-US" dirty="0" err="1"/>
              <a:t>PowerFX</a:t>
            </a:r>
            <a:r>
              <a:rPr lang="en-US" dirty="0"/>
              <a:t> formulas from .NET.</a:t>
            </a:r>
          </a:p>
          <a:p>
            <a:r>
              <a:rPr lang="en-US" dirty="0"/>
              <a:t>Finally, we will explore ways we can extend </a:t>
            </a:r>
            <a:r>
              <a:rPr lang="en-US" dirty="0" err="1"/>
              <a:t>PowerFX</a:t>
            </a:r>
            <a:r>
              <a:rPr lang="en-US" dirty="0"/>
              <a:t> by creating custom functions in .NET that can be called from </a:t>
            </a:r>
            <a:r>
              <a:rPr lang="en-US" dirty="0" err="1"/>
              <a:t>PowerFX</a:t>
            </a:r>
            <a:r>
              <a:rPr lang="en-US" dirty="0"/>
              <a:t>.</a:t>
            </a:r>
          </a:p>
        </p:txBody>
      </p:sp>
      <p:sp>
        <p:nvSpPr>
          <p:cNvPr id="4" name="Slide Number Placeholder 3"/>
          <p:cNvSpPr>
            <a:spLocks noGrp="1"/>
          </p:cNvSpPr>
          <p:nvPr>
            <p:ph type="sldNum" sz="quarter" idx="5"/>
          </p:nvPr>
        </p:nvSpPr>
        <p:spPr/>
        <p:txBody>
          <a:bodyPr/>
          <a:lstStyle/>
          <a:p>
            <a:fld id="{A3FADD39-AB8A-4278-99D9-40CD8D745BA1}" type="slidenum">
              <a:rPr lang="en-US" smtClean="0"/>
              <a:t>3</a:t>
            </a:fld>
            <a:endParaRPr lang="en-US"/>
          </a:p>
        </p:txBody>
      </p:sp>
    </p:spTree>
    <p:extLst>
      <p:ext uri="{BB962C8B-B14F-4D97-AF65-F5344CB8AC3E}">
        <p14:creationId xmlns:p14="http://schemas.microsoft.com/office/powerpoint/2010/main" val="151482360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will start our session with a story abut a pretend company and a </a:t>
            </a:r>
            <a:r>
              <a:rPr lang="en-US" dirty="0" err="1"/>
              <a:t>a</a:t>
            </a:r>
            <a:r>
              <a:rPr lang="en-US" dirty="0"/>
              <a:t> fake dev team. This story will help us frame a problem that </a:t>
            </a:r>
            <a:r>
              <a:rPr lang="en-US" dirty="0" err="1"/>
              <a:t>PowerFX</a:t>
            </a:r>
            <a:r>
              <a:rPr lang="en-US" dirty="0"/>
              <a:t> is a good candidate to solve.</a:t>
            </a:r>
          </a:p>
          <a:p>
            <a:endParaRPr lang="en-US" dirty="0"/>
          </a:p>
          <a:p>
            <a:r>
              <a:rPr lang="en-US" dirty="0"/>
              <a:t>Our pretend enterprise is </a:t>
            </a:r>
            <a:r>
              <a:rPr lang="en-US" dirty="0" err="1"/>
              <a:t>Pizzas’R’Us</a:t>
            </a:r>
            <a:r>
              <a:rPr lang="en-US" dirty="0"/>
              <a:t>. A small but profitable company, trying to be as nimble as possible. They provide pizza services to restaurants and super-markets.</a:t>
            </a:r>
          </a:p>
        </p:txBody>
      </p:sp>
      <p:sp>
        <p:nvSpPr>
          <p:cNvPr id="4" name="Slide Number Placeholder 3"/>
          <p:cNvSpPr>
            <a:spLocks noGrp="1"/>
          </p:cNvSpPr>
          <p:nvPr>
            <p:ph type="sldNum" sz="quarter" idx="5"/>
          </p:nvPr>
        </p:nvSpPr>
        <p:spPr/>
        <p:txBody>
          <a:bodyPr/>
          <a:lstStyle/>
          <a:p>
            <a:fld id="{CDDD3684-6E52-4019-8D61-A9B0BAC0DBD6}" type="slidenum">
              <a:rPr lang="en-US" smtClean="0"/>
              <a:t>4</a:t>
            </a:fld>
            <a:endParaRPr lang="en-US"/>
          </a:p>
        </p:txBody>
      </p:sp>
    </p:spTree>
    <p:extLst>
      <p:ext uri="{BB962C8B-B14F-4D97-AF65-F5344CB8AC3E}">
        <p14:creationId xmlns:p14="http://schemas.microsoft.com/office/powerpoint/2010/main" val="248664801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err="1"/>
              <a:t>Pizza’r’us</a:t>
            </a:r>
            <a:r>
              <a:rPr lang="en-US" dirty="0"/>
              <a:t> has a small dev team led by Alexandria. Alexandria is great .NET developer, and her talent has helped the business units achieve many of their goals via the custom apps and jobs she has created for them.</a:t>
            </a:r>
          </a:p>
          <a:p>
            <a:r>
              <a:rPr lang="en-US" dirty="0"/>
              <a:t>Because of the competitive business environment, the business units have been busy asking Alexandria for changes and new </a:t>
            </a:r>
            <a:r>
              <a:rPr lang="en-US" dirty="0" err="1"/>
              <a:t>feaures</a:t>
            </a:r>
            <a:r>
              <a:rPr lang="en-US" dirty="0"/>
              <a:t>. </a:t>
            </a:r>
          </a:p>
          <a:p>
            <a:r>
              <a:rPr lang="en-US" dirty="0"/>
              <a:t>Alexandria has a great reputation with the business side, but she sometimes feels like the bottleneck and wishes their was a way to make those changes faster or for another team to be able to help with the changes.</a:t>
            </a:r>
          </a:p>
          <a:p>
            <a:endParaRPr lang="en-US" dirty="0"/>
          </a:p>
          <a:p>
            <a:r>
              <a:rPr lang="en-US" dirty="0"/>
              <a:t>She notices that the biggest part of those changes have been changes to business rules, as the business is trying to evolve their tactics to gain a competitive advantage.</a:t>
            </a:r>
          </a:p>
          <a:p>
            <a:r>
              <a:rPr lang="en-US" dirty="0"/>
              <a:t> </a:t>
            </a:r>
          </a:p>
        </p:txBody>
      </p:sp>
      <p:sp>
        <p:nvSpPr>
          <p:cNvPr id="4" name="Slide Number Placeholder 3"/>
          <p:cNvSpPr>
            <a:spLocks noGrp="1"/>
          </p:cNvSpPr>
          <p:nvPr>
            <p:ph type="sldNum" sz="quarter" idx="5"/>
          </p:nvPr>
        </p:nvSpPr>
        <p:spPr/>
        <p:txBody>
          <a:bodyPr/>
          <a:lstStyle/>
          <a:p>
            <a:fld id="{A3FADD39-AB8A-4278-99D9-40CD8D745BA1}" type="slidenum">
              <a:rPr lang="en-US" smtClean="0"/>
              <a:t>5</a:t>
            </a:fld>
            <a:endParaRPr lang="en-US"/>
          </a:p>
        </p:txBody>
      </p:sp>
    </p:spTree>
    <p:extLst>
      <p:ext uri="{BB962C8B-B14F-4D97-AF65-F5344CB8AC3E}">
        <p14:creationId xmlns:p14="http://schemas.microsoft.com/office/powerpoint/2010/main" val="67633562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9CA3A5-22AF-DD8C-00D6-BEC44910FBA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E3606CC-1D5F-DFBD-43F2-4DF0ACFF201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3182516-3ED4-7437-D0E9-AF86A66FCCFE}"/>
              </a:ext>
            </a:extLst>
          </p:cNvPr>
          <p:cNvSpPr>
            <a:spLocks noGrp="1"/>
          </p:cNvSpPr>
          <p:nvPr>
            <p:ph type="body" idx="1"/>
          </p:nvPr>
        </p:nvSpPr>
        <p:spPr/>
        <p:txBody>
          <a:bodyPr/>
          <a:lstStyle/>
          <a:p>
            <a:r>
              <a:rPr lang="en-US" dirty="0"/>
              <a:t>We need to talk about what is and what is not Business Logic (aka Business Rules). I will give you my definition that I have found from experience over the years. Business logic is what makes your app helpful to the business. The logic is very specific and very unique because it tries to solve the specific problem your business has. </a:t>
            </a:r>
          </a:p>
          <a:p>
            <a:endParaRPr lang="en-US" dirty="0"/>
          </a:p>
          <a:p>
            <a:r>
              <a:rPr lang="en-US" dirty="0"/>
              <a:t>This logic is not the code you write in order to communicate with external dependencies. It is not the code you write to open a database connection, or drop a message in a queue, or send an email, or even call an HTTP service. It is the code that determine when those things happen and the contents of their payload. For example, the requirement is to notify a customer if their account has an </a:t>
            </a:r>
            <a:r>
              <a:rPr lang="en-US" dirty="0" err="1"/>
              <a:t>monthlky</a:t>
            </a:r>
            <a:r>
              <a:rPr lang="en-US" dirty="0"/>
              <a:t> average lower than the average of the previous 12 months. The business logic is the logic that determines the criteria (the average calculations) and the </a:t>
            </a:r>
            <a:r>
              <a:rPr lang="en-US" dirty="0" err="1"/>
              <a:t>the</a:t>
            </a:r>
            <a:r>
              <a:rPr lang="en-US" dirty="0"/>
              <a:t> contents of the message (what will go into the notification). It is not the code that you </a:t>
            </a:r>
            <a:r>
              <a:rPr lang="en-US" dirty="0" err="1"/>
              <a:t>hae</a:t>
            </a:r>
            <a:r>
              <a:rPr lang="en-US" dirty="0"/>
              <a:t> to write to access the database to pull the data to calculate the averages, nor it is the code that you use to connect to MS Graph to send the email via Outlook services.</a:t>
            </a:r>
          </a:p>
          <a:p>
            <a:endParaRPr lang="en-US" dirty="0"/>
          </a:p>
          <a:p>
            <a:r>
              <a:rPr lang="en-US" dirty="0"/>
              <a:t>By doing this separation, you are able to test the business logic in more reliable way since you are coding your logic with a explicit separation from your external dependencies. For example, it makes it easier to test that the verbiage of the email will be correct without having to actually send ay emails or fully faking an email service. It also reduces your integration to the </a:t>
            </a:r>
            <a:r>
              <a:rPr lang="en-US"/>
              <a:t>bare minimum.</a:t>
            </a:r>
            <a:endParaRPr lang="en-US" dirty="0"/>
          </a:p>
          <a:p>
            <a:endParaRPr lang="en-US" dirty="0"/>
          </a:p>
          <a:p>
            <a:r>
              <a:rPr lang="en-US" dirty="0"/>
              <a:t>Several </a:t>
            </a:r>
            <a:r>
              <a:rPr lang="en-US" dirty="0" err="1"/>
              <a:t>archictures</a:t>
            </a:r>
            <a:r>
              <a:rPr lang="en-US" dirty="0"/>
              <a:t> styles out there reinforce this notion, for example ports and adapters and the hexagon architecture. </a:t>
            </a:r>
          </a:p>
          <a:p>
            <a:r>
              <a:rPr lang="en-US" dirty="0"/>
              <a:t> </a:t>
            </a:r>
          </a:p>
        </p:txBody>
      </p:sp>
      <p:sp>
        <p:nvSpPr>
          <p:cNvPr id="4" name="Slide Number Placeholder 3">
            <a:extLst>
              <a:ext uri="{FF2B5EF4-FFF2-40B4-BE49-F238E27FC236}">
                <a16:creationId xmlns:a16="http://schemas.microsoft.com/office/drawing/2014/main" id="{644C8AB5-A7B7-CAEE-2EC0-27C5E6BD9EE8}"/>
              </a:ext>
            </a:extLst>
          </p:cNvPr>
          <p:cNvSpPr>
            <a:spLocks noGrp="1"/>
          </p:cNvSpPr>
          <p:nvPr>
            <p:ph type="sldNum" sz="quarter" idx="5"/>
          </p:nvPr>
        </p:nvSpPr>
        <p:spPr/>
        <p:txBody>
          <a:bodyPr/>
          <a:lstStyle/>
          <a:p>
            <a:fld id="{A3FADD39-AB8A-4278-99D9-40CD8D745BA1}" type="slidenum">
              <a:rPr lang="en-US" smtClean="0"/>
              <a:t>6</a:t>
            </a:fld>
            <a:endParaRPr lang="en-US"/>
          </a:p>
        </p:txBody>
      </p:sp>
    </p:spTree>
    <p:extLst>
      <p:ext uri="{BB962C8B-B14F-4D97-AF65-F5344CB8AC3E}">
        <p14:creationId xmlns:p14="http://schemas.microsoft.com/office/powerpoint/2010/main" val="90480064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Alexandria starts to engage the Business Units to try to find out what tools they use every day, in an effort find patterns that then she can use to help them with the changes they request.</a:t>
            </a:r>
          </a:p>
          <a:p>
            <a:r>
              <a:rPr lang="en-US" dirty="0"/>
              <a:t>She observes that many in the </a:t>
            </a:r>
            <a:r>
              <a:rPr lang="en-US" dirty="0" err="1"/>
              <a:t>the</a:t>
            </a:r>
            <a:r>
              <a:rPr lang="en-US" dirty="0"/>
              <a:t> business units are very good Excel users. Many the apps Alexandria created for them had their </a:t>
            </a:r>
            <a:r>
              <a:rPr lang="en-US" dirty="0" err="1"/>
              <a:t>originins</a:t>
            </a:r>
            <a:r>
              <a:rPr lang="en-US" dirty="0"/>
              <a:t> on an Excel file created by business user that then grow into a critical business resource.</a:t>
            </a:r>
          </a:p>
          <a:p>
            <a:r>
              <a:rPr lang="en-US" dirty="0"/>
              <a:t>She learns that some of the requests from the business go to a larger IT team, different from the Development team. This team uses the Microsoft </a:t>
            </a:r>
            <a:r>
              <a:rPr lang="en-US" dirty="0" err="1"/>
              <a:t>PowerPlatform</a:t>
            </a:r>
            <a:r>
              <a:rPr lang="en-US" dirty="0"/>
              <a:t> to build solutions for the business. However, quite a good part of those requests are too complex or fall outside the skills of that team, so the requests get redirected to the Dev Team to be addressed by custom software.</a:t>
            </a:r>
          </a:p>
          <a:p>
            <a:endParaRPr lang="en-US" dirty="0"/>
          </a:p>
        </p:txBody>
      </p:sp>
      <p:sp>
        <p:nvSpPr>
          <p:cNvPr id="4" name="Slide Number Placeholder 3"/>
          <p:cNvSpPr>
            <a:spLocks noGrp="1"/>
          </p:cNvSpPr>
          <p:nvPr>
            <p:ph type="sldNum" sz="quarter" idx="5"/>
          </p:nvPr>
        </p:nvSpPr>
        <p:spPr/>
        <p:txBody>
          <a:bodyPr/>
          <a:lstStyle/>
          <a:p>
            <a:fld id="{A3FADD39-AB8A-4278-99D9-40CD8D745BA1}" type="slidenum">
              <a:rPr lang="en-US" smtClean="0"/>
              <a:t>7</a:t>
            </a:fld>
            <a:endParaRPr lang="en-US"/>
          </a:p>
        </p:txBody>
      </p:sp>
    </p:spTree>
    <p:extLst>
      <p:ext uri="{BB962C8B-B14F-4D97-AF65-F5344CB8AC3E}">
        <p14:creationId xmlns:p14="http://schemas.microsoft.com/office/powerpoint/2010/main" val="110728774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Alexandria starts looking for tools that can assist the business units with coming with solutions to their needs. She finds many applications and </a:t>
            </a:r>
            <a:r>
              <a:rPr lang="en-US" dirty="0" err="1"/>
              <a:t>frmeworks</a:t>
            </a:r>
            <a:r>
              <a:rPr lang="en-US" dirty="0"/>
              <a:t> whose purpose is to define and execute business. </a:t>
            </a:r>
          </a:p>
          <a:p>
            <a:r>
              <a:rPr lang="en-US" dirty="0"/>
              <a:t>A lot of the software out there for business rules is actually pretty mature, with </a:t>
            </a:r>
            <a:r>
              <a:rPr lang="en-US" dirty="0" err="1"/>
              <a:t>frameowkrs</a:t>
            </a:r>
            <a:r>
              <a:rPr lang="en-US" dirty="0"/>
              <a:t> such as Drools, and Camunda’s DNN. However, as good as those tools are, they are not a good fit for her org because most of those tools are Java based and would require the business units to learn new paradigms and syntaxes.</a:t>
            </a:r>
          </a:p>
          <a:p>
            <a:r>
              <a:rPr lang="en-US" dirty="0"/>
              <a:t>Alexandria does find that Microsoft has an Open Source engine for </a:t>
            </a:r>
            <a:r>
              <a:rPr lang="en-US" dirty="0" err="1"/>
              <a:t>.net</a:t>
            </a:r>
            <a:r>
              <a:rPr lang="en-US" dirty="0"/>
              <a:t> for rules. Even though this one is based in </a:t>
            </a:r>
            <a:r>
              <a:rPr lang="en-US" dirty="0" err="1"/>
              <a:t>.net</a:t>
            </a:r>
            <a:r>
              <a:rPr lang="en-US" dirty="0"/>
              <a:t>, the syntax is still a little bit unfamiliar to the business.</a:t>
            </a:r>
          </a:p>
          <a:p>
            <a:r>
              <a:rPr lang="en-US" dirty="0"/>
              <a:t>Another approach she finds is using Windows Workflows as a business friendly to define business logic.</a:t>
            </a:r>
          </a:p>
        </p:txBody>
      </p:sp>
      <p:sp>
        <p:nvSpPr>
          <p:cNvPr id="4" name="Slide Number Placeholder 3"/>
          <p:cNvSpPr>
            <a:spLocks noGrp="1"/>
          </p:cNvSpPr>
          <p:nvPr>
            <p:ph type="sldNum" sz="quarter" idx="5"/>
          </p:nvPr>
        </p:nvSpPr>
        <p:spPr/>
        <p:txBody>
          <a:bodyPr/>
          <a:lstStyle/>
          <a:p>
            <a:fld id="{A3FADD39-AB8A-4278-99D9-40CD8D745BA1}" type="slidenum">
              <a:rPr lang="en-US" smtClean="0"/>
              <a:t>8</a:t>
            </a:fld>
            <a:endParaRPr lang="en-US"/>
          </a:p>
        </p:txBody>
      </p:sp>
    </p:spTree>
    <p:extLst>
      <p:ext uri="{BB962C8B-B14F-4D97-AF65-F5344CB8AC3E}">
        <p14:creationId xmlns:p14="http://schemas.microsoft.com/office/powerpoint/2010/main" val="246337500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A3FADD39-AB8A-4278-99D9-40CD8D745BA1}" type="slidenum">
              <a:rPr lang="en-US" smtClean="0"/>
              <a:t>9</a:t>
            </a:fld>
            <a:endParaRPr lang="en-US"/>
          </a:p>
        </p:txBody>
      </p:sp>
    </p:spTree>
    <p:extLst>
      <p:ext uri="{BB962C8B-B14F-4D97-AF65-F5344CB8AC3E}">
        <p14:creationId xmlns:p14="http://schemas.microsoft.com/office/powerpoint/2010/main" val="346177100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244F30-FCFD-6FED-2EBB-AD17AE608A45}"/>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25FF4D4E-099C-45CC-C16A-8E28C1C16B01}"/>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A69E1FA2-FED2-8B6C-F85C-78EE58CB483C}"/>
              </a:ext>
            </a:extLst>
          </p:cNvPr>
          <p:cNvSpPr>
            <a:spLocks noGrp="1"/>
          </p:cNvSpPr>
          <p:nvPr>
            <p:ph type="dt" sz="half" idx="10"/>
          </p:nvPr>
        </p:nvSpPr>
        <p:spPr/>
        <p:txBody>
          <a:bodyPr/>
          <a:lstStyle/>
          <a:p>
            <a:fld id="{5CDD294D-83BB-48C2-9EE9-4B0B0168A414}" type="datetimeFigureOut">
              <a:rPr lang="en-US" smtClean="0"/>
              <a:t>3/4/2026</a:t>
            </a:fld>
            <a:endParaRPr lang="en-US"/>
          </a:p>
        </p:txBody>
      </p:sp>
      <p:sp>
        <p:nvSpPr>
          <p:cNvPr id="5" name="Footer Placeholder 4">
            <a:extLst>
              <a:ext uri="{FF2B5EF4-FFF2-40B4-BE49-F238E27FC236}">
                <a16:creationId xmlns:a16="http://schemas.microsoft.com/office/drawing/2014/main" id="{B192957A-104E-CBDE-EA16-70248BCCB20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BF260B4-04BE-A453-A4E0-F69ADFA30204}"/>
              </a:ext>
            </a:extLst>
          </p:cNvPr>
          <p:cNvSpPr>
            <a:spLocks noGrp="1"/>
          </p:cNvSpPr>
          <p:nvPr>
            <p:ph type="sldNum" sz="quarter" idx="12"/>
          </p:nvPr>
        </p:nvSpPr>
        <p:spPr/>
        <p:txBody>
          <a:bodyPr/>
          <a:lstStyle/>
          <a:p>
            <a:fld id="{EA7AC6CD-6561-4BC4-8692-AA11B8096719}" type="slidenum">
              <a:rPr lang="en-US" smtClean="0"/>
              <a:t>‹#›</a:t>
            </a:fld>
            <a:endParaRPr lang="en-US"/>
          </a:p>
        </p:txBody>
      </p:sp>
    </p:spTree>
    <p:extLst>
      <p:ext uri="{BB962C8B-B14F-4D97-AF65-F5344CB8AC3E}">
        <p14:creationId xmlns:p14="http://schemas.microsoft.com/office/powerpoint/2010/main" val="411174506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AFB4D8-42DC-EEF7-176D-A07E334B669F}"/>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B4AB53E4-DE9D-630C-4AEE-7302D47DE10E}"/>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7AE9B9B-00EF-11B9-B2B2-B8A754A042E7}"/>
              </a:ext>
            </a:extLst>
          </p:cNvPr>
          <p:cNvSpPr>
            <a:spLocks noGrp="1"/>
          </p:cNvSpPr>
          <p:nvPr>
            <p:ph type="dt" sz="half" idx="10"/>
          </p:nvPr>
        </p:nvSpPr>
        <p:spPr/>
        <p:txBody>
          <a:bodyPr/>
          <a:lstStyle/>
          <a:p>
            <a:fld id="{5CDD294D-83BB-48C2-9EE9-4B0B0168A414}" type="datetimeFigureOut">
              <a:rPr lang="en-US" smtClean="0"/>
              <a:t>3/4/2026</a:t>
            </a:fld>
            <a:endParaRPr lang="en-US"/>
          </a:p>
        </p:txBody>
      </p:sp>
      <p:sp>
        <p:nvSpPr>
          <p:cNvPr id="5" name="Footer Placeholder 4">
            <a:extLst>
              <a:ext uri="{FF2B5EF4-FFF2-40B4-BE49-F238E27FC236}">
                <a16:creationId xmlns:a16="http://schemas.microsoft.com/office/drawing/2014/main" id="{B72D7114-D045-BB7D-8068-78FDB7C0460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00CFEA2-507A-CC40-06AA-CF17163D8393}"/>
              </a:ext>
            </a:extLst>
          </p:cNvPr>
          <p:cNvSpPr>
            <a:spLocks noGrp="1"/>
          </p:cNvSpPr>
          <p:nvPr>
            <p:ph type="sldNum" sz="quarter" idx="12"/>
          </p:nvPr>
        </p:nvSpPr>
        <p:spPr/>
        <p:txBody>
          <a:bodyPr/>
          <a:lstStyle/>
          <a:p>
            <a:fld id="{EA7AC6CD-6561-4BC4-8692-AA11B8096719}" type="slidenum">
              <a:rPr lang="en-US" smtClean="0"/>
              <a:t>‹#›</a:t>
            </a:fld>
            <a:endParaRPr lang="en-US"/>
          </a:p>
        </p:txBody>
      </p:sp>
    </p:spTree>
    <p:extLst>
      <p:ext uri="{BB962C8B-B14F-4D97-AF65-F5344CB8AC3E}">
        <p14:creationId xmlns:p14="http://schemas.microsoft.com/office/powerpoint/2010/main" val="213520409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016FD8-A283-88D8-444A-9616E66D9EDB}"/>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5E786F1C-2591-237A-C81A-5E17D72DE45C}"/>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AA733CBB-B80B-0F22-22FC-E22C04297266}"/>
              </a:ext>
            </a:extLst>
          </p:cNvPr>
          <p:cNvSpPr>
            <a:spLocks noGrp="1"/>
          </p:cNvSpPr>
          <p:nvPr>
            <p:ph type="dt" sz="half" idx="10"/>
          </p:nvPr>
        </p:nvSpPr>
        <p:spPr/>
        <p:txBody>
          <a:bodyPr/>
          <a:lstStyle/>
          <a:p>
            <a:fld id="{5CDD294D-83BB-48C2-9EE9-4B0B0168A414}" type="datetimeFigureOut">
              <a:rPr lang="en-US" smtClean="0"/>
              <a:t>3/4/2026</a:t>
            </a:fld>
            <a:endParaRPr lang="en-US"/>
          </a:p>
        </p:txBody>
      </p:sp>
      <p:sp>
        <p:nvSpPr>
          <p:cNvPr id="5" name="Footer Placeholder 4">
            <a:extLst>
              <a:ext uri="{FF2B5EF4-FFF2-40B4-BE49-F238E27FC236}">
                <a16:creationId xmlns:a16="http://schemas.microsoft.com/office/drawing/2014/main" id="{C5941BA8-AD9C-1FA7-8EF8-702BF3DFE3A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6674F37-39E2-85B7-504C-923079FBFC1B}"/>
              </a:ext>
            </a:extLst>
          </p:cNvPr>
          <p:cNvSpPr>
            <a:spLocks noGrp="1"/>
          </p:cNvSpPr>
          <p:nvPr>
            <p:ph type="sldNum" sz="quarter" idx="12"/>
          </p:nvPr>
        </p:nvSpPr>
        <p:spPr/>
        <p:txBody>
          <a:bodyPr/>
          <a:lstStyle/>
          <a:p>
            <a:fld id="{EA7AC6CD-6561-4BC4-8692-AA11B8096719}" type="slidenum">
              <a:rPr lang="en-US" smtClean="0"/>
              <a:t>‹#›</a:t>
            </a:fld>
            <a:endParaRPr lang="en-US"/>
          </a:p>
        </p:txBody>
      </p:sp>
    </p:spTree>
    <p:extLst>
      <p:ext uri="{BB962C8B-B14F-4D97-AF65-F5344CB8AC3E}">
        <p14:creationId xmlns:p14="http://schemas.microsoft.com/office/powerpoint/2010/main" val="220769021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1A6F68-AD81-3D6C-44B5-4BEC89B19616}"/>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F5410551-026F-C761-CCD6-8001C491F5DE}"/>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0F442424-F87B-F474-6926-54ED5F62BFC0}"/>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BF2D9BF2-C027-0AB4-2E5A-E05FA647AA9A}"/>
              </a:ext>
            </a:extLst>
          </p:cNvPr>
          <p:cNvSpPr>
            <a:spLocks noGrp="1"/>
          </p:cNvSpPr>
          <p:nvPr>
            <p:ph type="dt" sz="half" idx="10"/>
          </p:nvPr>
        </p:nvSpPr>
        <p:spPr/>
        <p:txBody>
          <a:bodyPr/>
          <a:lstStyle/>
          <a:p>
            <a:fld id="{5CDD294D-83BB-48C2-9EE9-4B0B0168A414}" type="datetimeFigureOut">
              <a:rPr lang="en-US" smtClean="0"/>
              <a:t>3/4/2026</a:t>
            </a:fld>
            <a:endParaRPr lang="en-US"/>
          </a:p>
        </p:txBody>
      </p:sp>
      <p:sp>
        <p:nvSpPr>
          <p:cNvPr id="6" name="Footer Placeholder 5">
            <a:extLst>
              <a:ext uri="{FF2B5EF4-FFF2-40B4-BE49-F238E27FC236}">
                <a16:creationId xmlns:a16="http://schemas.microsoft.com/office/drawing/2014/main" id="{2F1D65C2-6464-EE59-B202-5982A240D87D}"/>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8BF53B88-7925-EAFE-A752-E4F0582DF3A4}"/>
              </a:ext>
            </a:extLst>
          </p:cNvPr>
          <p:cNvSpPr>
            <a:spLocks noGrp="1"/>
          </p:cNvSpPr>
          <p:nvPr>
            <p:ph type="sldNum" sz="quarter" idx="12"/>
          </p:nvPr>
        </p:nvSpPr>
        <p:spPr/>
        <p:txBody>
          <a:bodyPr/>
          <a:lstStyle/>
          <a:p>
            <a:fld id="{EA7AC6CD-6561-4BC4-8692-AA11B8096719}" type="slidenum">
              <a:rPr lang="en-US" smtClean="0"/>
              <a:t>‹#›</a:t>
            </a:fld>
            <a:endParaRPr lang="en-US"/>
          </a:p>
        </p:txBody>
      </p:sp>
    </p:spTree>
    <p:extLst>
      <p:ext uri="{BB962C8B-B14F-4D97-AF65-F5344CB8AC3E}">
        <p14:creationId xmlns:p14="http://schemas.microsoft.com/office/powerpoint/2010/main" val="353252110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686086-82B2-DAD4-C530-0BA44A722763}"/>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9675D6B5-CD47-3BD2-4F02-E93C3EFF4260}"/>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FDA5E3D2-FE7F-936C-D3A4-DC078F791A0C}"/>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C8B60DFD-857F-B790-A31A-7E3E7F810539}"/>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67EE82F2-D85C-390C-8A4A-44DAC8C65310}"/>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93CF2388-CD0A-86B5-46D0-7837328030B1}"/>
              </a:ext>
            </a:extLst>
          </p:cNvPr>
          <p:cNvSpPr>
            <a:spLocks noGrp="1"/>
          </p:cNvSpPr>
          <p:nvPr>
            <p:ph type="dt" sz="half" idx="10"/>
          </p:nvPr>
        </p:nvSpPr>
        <p:spPr/>
        <p:txBody>
          <a:bodyPr/>
          <a:lstStyle/>
          <a:p>
            <a:fld id="{5CDD294D-83BB-48C2-9EE9-4B0B0168A414}" type="datetimeFigureOut">
              <a:rPr lang="en-US" smtClean="0"/>
              <a:t>3/4/2026</a:t>
            </a:fld>
            <a:endParaRPr lang="en-US"/>
          </a:p>
        </p:txBody>
      </p:sp>
      <p:sp>
        <p:nvSpPr>
          <p:cNvPr id="8" name="Footer Placeholder 7">
            <a:extLst>
              <a:ext uri="{FF2B5EF4-FFF2-40B4-BE49-F238E27FC236}">
                <a16:creationId xmlns:a16="http://schemas.microsoft.com/office/drawing/2014/main" id="{81E98FF8-0CF1-9C7E-2BD9-777545F53471}"/>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39734FE2-DB0D-2751-0485-AEA728E771CF}"/>
              </a:ext>
            </a:extLst>
          </p:cNvPr>
          <p:cNvSpPr>
            <a:spLocks noGrp="1"/>
          </p:cNvSpPr>
          <p:nvPr>
            <p:ph type="sldNum" sz="quarter" idx="12"/>
          </p:nvPr>
        </p:nvSpPr>
        <p:spPr/>
        <p:txBody>
          <a:bodyPr/>
          <a:lstStyle/>
          <a:p>
            <a:fld id="{EA7AC6CD-6561-4BC4-8692-AA11B8096719}" type="slidenum">
              <a:rPr lang="en-US" smtClean="0"/>
              <a:t>‹#›</a:t>
            </a:fld>
            <a:endParaRPr lang="en-US"/>
          </a:p>
        </p:txBody>
      </p:sp>
    </p:spTree>
    <p:extLst>
      <p:ext uri="{BB962C8B-B14F-4D97-AF65-F5344CB8AC3E}">
        <p14:creationId xmlns:p14="http://schemas.microsoft.com/office/powerpoint/2010/main" val="858238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A17937-3241-60F2-438F-CF04AFBF750B}"/>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FDFB4BBF-4B69-03D9-B6B8-AEE72060EF4E}"/>
              </a:ext>
            </a:extLst>
          </p:cNvPr>
          <p:cNvSpPr>
            <a:spLocks noGrp="1"/>
          </p:cNvSpPr>
          <p:nvPr>
            <p:ph type="dt" sz="half" idx="10"/>
          </p:nvPr>
        </p:nvSpPr>
        <p:spPr/>
        <p:txBody>
          <a:bodyPr/>
          <a:lstStyle/>
          <a:p>
            <a:fld id="{5CDD294D-83BB-48C2-9EE9-4B0B0168A414}" type="datetimeFigureOut">
              <a:rPr lang="en-US" smtClean="0"/>
              <a:t>3/4/2026</a:t>
            </a:fld>
            <a:endParaRPr lang="en-US"/>
          </a:p>
        </p:txBody>
      </p:sp>
      <p:sp>
        <p:nvSpPr>
          <p:cNvPr id="4" name="Footer Placeholder 3">
            <a:extLst>
              <a:ext uri="{FF2B5EF4-FFF2-40B4-BE49-F238E27FC236}">
                <a16:creationId xmlns:a16="http://schemas.microsoft.com/office/drawing/2014/main" id="{7657FD13-039F-016B-B9F5-A53278FF5E5F}"/>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83C1618E-9842-5543-A4FF-DE268435F0E8}"/>
              </a:ext>
            </a:extLst>
          </p:cNvPr>
          <p:cNvSpPr>
            <a:spLocks noGrp="1"/>
          </p:cNvSpPr>
          <p:nvPr>
            <p:ph type="sldNum" sz="quarter" idx="12"/>
          </p:nvPr>
        </p:nvSpPr>
        <p:spPr/>
        <p:txBody>
          <a:bodyPr/>
          <a:lstStyle/>
          <a:p>
            <a:fld id="{EA7AC6CD-6561-4BC4-8692-AA11B8096719}" type="slidenum">
              <a:rPr lang="en-US" smtClean="0"/>
              <a:t>‹#›</a:t>
            </a:fld>
            <a:endParaRPr lang="en-US"/>
          </a:p>
        </p:txBody>
      </p:sp>
    </p:spTree>
    <p:extLst>
      <p:ext uri="{BB962C8B-B14F-4D97-AF65-F5344CB8AC3E}">
        <p14:creationId xmlns:p14="http://schemas.microsoft.com/office/powerpoint/2010/main" val="364335198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156ABBE2-7FD4-AB13-10F0-61EB11812B6C}"/>
              </a:ext>
            </a:extLst>
          </p:cNvPr>
          <p:cNvSpPr>
            <a:spLocks noGrp="1"/>
          </p:cNvSpPr>
          <p:nvPr>
            <p:ph type="dt" sz="half" idx="10"/>
          </p:nvPr>
        </p:nvSpPr>
        <p:spPr/>
        <p:txBody>
          <a:bodyPr/>
          <a:lstStyle/>
          <a:p>
            <a:fld id="{5CDD294D-83BB-48C2-9EE9-4B0B0168A414}" type="datetimeFigureOut">
              <a:rPr lang="en-US" smtClean="0"/>
              <a:t>3/4/2026</a:t>
            </a:fld>
            <a:endParaRPr lang="en-US"/>
          </a:p>
        </p:txBody>
      </p:sp>
      <p:sp>
        <p:nvSpPr>
          <p:cNvPr id="3" name="Footer Placeholder 2">
            <a:extLst>
              <a:ext uri="{FF2B5EF4-FFF2-40B4-BE49-F238E27FC236}">
                <a16:creationId xmlns:a16="http://schemas.microsoft.com/office/drawing/2014/main" id="{689048F8-6FE3-80BA-26C7-A78EC116B485}"/>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E14A94C4-BB66-5A9B-D1DD-FEDD7F2CBEE8}"/>
              </a:ext>
            </a:extLst>
          </p:cNvPr>
          <p:cNvSpPr>
            <a:spLocks noGrp="1"/>
          </p:cNvSpPr>
          <p:nvPr>
            <p:ph type="sldNum" sz="quarter" idx="12"/>
          </p:nvPr>
        </p:nvSpPr>
        <p:spPr/>
        <p:txBody>
          <a:bodyPr/>
          <a:lstStyle/>
          <a:p>
            <a:fld id="{EA7AC6CD-6561-4BC4-8692-AA11B8096719}" type="slidenum">
              <a:rPr lang="en-US" smtClean="0"/>
              <a:t>‹#›</a:t>
            </a:fld>
            <a:endParaRPr lang="en-US"/>
          </a:p>
        </p:txBody>
      </p:sp>
    </p:spTree>
    <p:extLst>
      <p:ext uri="{BB962C8B-B14F-4D97-AF65-F5344CB8AC3E}">
        <p14:creationId xmlns:p14="http://schemas.microsoft.com/office/powerpoint/2010/main" val="132079825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511CEF-C9E5-5BC8-FFFF-964E8CD4F6A2}"/>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511661EB-94A7-F368-4658-9C3305D1CBB1}"/>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0CEB5A70-9449-3DC2-8B50-ECF3A7566DF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6C3CBF1-B1A4-BEFA-5257-E47E7B4D8FDC}"/>
              </a:ext>
            </a:extLst>
          </p:cNvPr>
          <p:cNvSpPr>
            <a:spLocks noGrp="1"/>
          </p:cNvSpPr>
          <p:nvPr>
            <p:ph type="dt" sz="half" idx="10"/>
          </p:nvPr>
        </p:nvSpPr>
        <p:spPr/>
        <p:txBody>
          <a:bodyPr/>
          <a:lstStyle/>
          <a:p>
            <a:fld id="{5CDD294D-83BB-48C2-9EE9-4B0B0168A414}" type="datetimeFigureOut">
              <a:rPr lang="en-US" smtClean="0"/>
              <a:t>3/4/2026</a:t>
            </a:fld>
            <a:endParaRPr lang="en-US"/>
          </a:p>
        </p:txBody>
      </p:sp>
      <p:sp>
        <p:nvSpPr>
          <p:cNvPr id="6" name="Footer Placeholder 5">
            <a:extLst>
              <a:ext uri="{FF2B5EF4-FFF2-40B4-BE49-F238E27FC236}">
                <a16:creationId xmlns:a16="http://schemas.microsoft.com/office/drawing/2014/main" id="{33D3CF65-1D8C-2D35-BFFE-605D844FEAE3}"/>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D0AE98AD-8FAC-DF0D-9CB5-8F17346D15DE}"/>
              </a:ext>
            </a:extLst>
          </p:cNvPr>
          <p:cNvSpPr>
            <a:spLocks noGrp="1"/>
          </p:cNvSpPr>
          <p:nvPr>
            <p:ph type="sldNum" sz="quarter" idx="12"/>
          </p:nvPr>
        </p:nvSpPr>
        <p:spPr/>
        <p:txBody>
          <a:bodyPr/>
          <a:lstStyle/>
          <a:p>
            <a:fld id="{EA7AC6CD-6561-4BC4-8692-AA11B8096719}" type="slidenum">
              <a:rPr lang="en-US" smtClean="0"/>
              <a:t>‹#›</a:t>
            </a:fld>
            <a:endParaRPr lang="en-US"/>
          </a:p>
        </p:txBody>
      </p:sp>
    </p:spTree>
    <p:extLst>
      <p:ext uri="{BB962C8B-B14F-4D97-AF65-F5344CB8AC3E}">
        <p14:creationId xmlns:p14="http://schemas.microsoft.com/office/powerpoint/2010/main" val="36836643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E691E2-244E-9D42-B9B1-2B4BDF995AB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F48DDC8B-2A73-100B-590C-226AF1012379}"/>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865E1766-A32E-48C9-1EE2-136D580525F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D0B619E-E7CC-C315-AA1F-C646B4F04DAD}"/>
              </a:ext>
            </a:extLst>
          </p:cNvPr>
          <p:cNvSpPr>
            <a:spLocks noGrp="1"/>
          </p:cNvSpPr>
          <p:nvPr>
            <p:ph type="dt" sz="half" idx="10"/>
          </p:nvPr>
        </p:nvSpPr>
        <p:spPr/>
        <p:txBody>
          <a:bodyPr/>
          <a:lstStyle/>
          <a:p>
            <a:fld id="{5CDD294D-83BB-48C2-9EE9-4B0B0168A414}" type="datetimeFigureOut">
              <a:rPr lang="en-US" smtClean="0"/>
              <a:t>3/4/2026</a:t>
            </a:fld>
            <a:endParaRPr lang="en-US"/>
          </a:p>
        </p:txBody>
      </p:sp>
      <p:sp>
        <p:nvSpPr>
          <p:cNvPr id="6" name="Footer Placeholder 5">
            <a:extLst>
              <a:ext uri="{FF2B5EF4-FFF2-40B4-BE49-F238E27FC236}">
                <a16:creationId xmlns:a16="http://schemas.microsoft.com/office/drawing/2014/main" id="{7E62A376-CDD7-A58B-C80A-07391E7B4783}"/>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6AB575ED-2AA5-0384-5B48-1849E0723409}"/>
              </a:ext>
            </a:extLst>
          </p:cNvPr>
          <p:cNvSpPr>
            <a:spLocks noGrp="1"/>
          </p:cNvSpPr>
          <p:nvPr>
            <p:ph type="sldNum" sz="quarter" idx="12"/>
          </p:nvPr>
        </p:nvSpPr>
        <p:spPr/>
        <p:txBody>
          <a:bodyPr/>
          <a:lstStyle/>
          <a:p>
            <a:fld id="{EA7AC6CD-6561-4BC4-8692-AA11B8096719}" type="slidenum">
              <a:rPr lang="en-US" smtClean="0"/>
              <a:t>‹#›</a:t>
            </a:fld>
            <a:endParaRPr lang="en-US"/>
          </a:p>
        </p:txBody>
      </p:sp>
    </p:spTree>
    <p:extLst>
      <p:ext uri="{BB962C8B-B14F-4D97-AF65-F5344CB8AC3E}">
        <p14:creationId xmlns:p14="http://schemas.microsoft.com/office/powerpoint/2010/main" val="20298502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B3C902-6E9C-A299-4E17-22ED37854E38}"/>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A0200B65-C0DE-8DF6-230C-B370F562A6EE}"/>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8F7BF3E-80D4-7B6A-3452-DD4892551223}"/>
              </a:ext>
            </a:extLst>
          </p:cNvPr>
          <p:cNvSpPr>
            <a:spLocks noGrp="1"/>
          </p:cNvSpPr>
          <p:nvPr>
            <p:ph type="dt" sz="half" idx="10"/>
          </p:nvPr>
        </p:nvSpPr>
        <p:spPr/>
        <p:txBody>
          <a:bodyPr/>
          <a:lstStyle/>
          <a:p>
            <a:fld id="{5CDD294D-83BB-48C2-9EE9-4B0B0168A414}" type="datetimeFigureOut">
              <a:rPr lang="en-US" smtClean="0"/>
              <a:t>3/4/2026</a:t>
            </a:fld>
            <a:endParaRPr lang="en-US"/>
          </a:p>
        </p:txBody>
      </p:sp>
      <p:sp>
        <p:nvSpPr>
          <p:cNvPr id="5" name="Footer Placeholder 4">
            <a:extLst>
              <a:ext uri="{FF2B5EF4-FFF2-40B4-BE49-F238E27FC236}">
                <a16:creationId xmlns:a16="http://schemas.microsoft.com/office/drawing/2014/main" id="{AB34E552-028E-256C-343D-692EBE8F695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0334BDC-15F4-4A6C-66D7-463E7E5D61BC}"/>
              </a:ext>
            </a:extLst>
          </p:cNvPr>
          <p:cNvSpPr>
            <a:spLocks noGrp="1"/>
          </p:cNvSpPr>
          <p:nvPr>
            <p:ph type="sldNum" sz="quarter" idx="12"/>
          </p:nvPr>
        </p:nvSpPr>
        <p:spPr/>
        <p:txBody>
          <a:bodyPr/>
          <a:lstStyle/>
          <a:p>
            <a:fld id="{EA7AC6CD-6561-4BC4-8692-AA11B8096719}" type="slidenum">
              <a:rPr lang="en-US" smtClean="0"/>
              <a:t>‹#›</a:t>
            </a:fld>
            <a:endParaRPr lang="en-US"/>
          </a:p>
        </p:txBody>
      </p:sp>
    </p:spTree>
    <p:extLst>
      <p:ext uri="{BB962C8B-B14F-4D97-AF65-F5344CB8AC3E}">
        <p14:creationId xmlns:p14="http://schemas.microsoft.com/office/powerpoint/2010/main" val="181104536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6AB81025-4D41-A709-9560-1D68239F2757}"/>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00EC8C33-4E5D-DE2F-4D7F-7CE2B507B893}"/>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7144319-D93A-CF41-DC09-B306CB096AE4}"/>
              </a:ext>
            </a:extLst>
          </p:cNvPr>
          <p:cNvSpPr>
            <a:spLocks noGrp="1"/>
          </p:cNvSpPr>
          <p:nvPr>
            <p:ph type="dt" sz="half" idx="10"/>
          </p:nvPr>
        </p:nvSpPr>
        <p:spPr/>
        <p:txBody>
          <a:bodyPr/>
          <a:lstStyle/>
          <a:p>
            <a:fld id="{5CDD294D-83BB-48C2-9EE9-4B0B0168A414}" type="datetimeFigureOut">
              <a:rPr lang="en-US" smtClean="0"/>
              <a:t>3/4/2026</a:t>
            </a:fld>
            <a:endParaRPr lang="en-US"/>
          </a:p>
        </p:txBody>
      </p:sp>
      <p:sp>
        <p:nvSpPr>
          <p:cNvPr id="5" name="Footer Placeholder 4">
            <a:extLst>
              <a:ext uri="{FF2B5EF4-FFF2-40B4-BE49-F238E27FC236}">
                <a16:creationId xmlns:a16="http://schemas.microsoft.com/office/drawing/2014/main" id="{7AE5480B-8874-AFF9-BEFE-9E64AE9BDA8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2ACB3DB-C855-9DBB-022A-F4875EC57096}"/>
              </a:ext>
            </a:extLst>
          </p:cNvPr>
          <p:cNvSpPr>
            <a:spLocks noGrp="1"/>
          </p:cNvSpPr>
          <p:nvPr>
            <p:ph type="sldNum" sz="quarter" idx="12"/>
          </p:nvPr>
        </p:nvSpPr>
        <p:spPr/>
        <p:txBody>
          <a:bodyPr/>
          <a:lstStyle/>
          <a:p>
            <a:fld id="{EA7AC6CD-6561-4BC4-8692-AA11B8096719}" type="slidenum">
              <a:rPr lang="en-US" smtClean="0"/>
              <a:t>‹#›</a:t>
            </a:fld>
            <a:endParaRPr lang="en-US"/>
          </a:p>
        </p:txBody>
      </p:sp>
    </p:spTree>
    <p:extLst>
      <p:ext uri="{BB962C8B-B14F-4D97-AF65-F5344CB8AC3E}">
        <p14:creationId xmlns:p14="http://schemas.microsoft.com/office/powerpoint/2010/main" val="200084377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2EF941D8-711F-7156-B956-AF349C1B75D4}"/>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585611BC-9068-E916-7149-AB52295BDD6B}"/>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F1458FC-54A0-C836-3CDB-D7102BBF25D8}"/>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5CDD294D-83BB-48C2-9EE9-4B0B0168A414}" type="datetimeFigureOut">
              <a:rPr lang="en-US" smtClean="0"/>
              <a:t>3/4/2026</a:t>
            </a:fld>
            <a:endParaRPr lang="en-US"/>
          </a:p>
        </p:txBody>
      </p:sp>
      <p:sp>
        <p:nvSpPr>
          <p:cNvPr id="5" name="Footer Placeholder 4">
            <a:extLst>
              <a:ext uri="{FF2B5EF4-FFF2-40B4-BE49-F238E27FC236}">
                <a16:creationId xmlns:a16="http://schemas.microsoft.com/office/drawing/2014/main" id="{E0699771-5CC8-9A74-CDB9-8DDC4FBEC0B7}"/>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99F2360E-0275-A57A-2874-B6821EDCBB21}"/>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EA7AC6CD-6561-4BC4-8692-AA11B8096719}" type="slidenum">
              <a:rPr lang="en-US" smtClean="0"/>
              <a:t>‹#›</a:t>
            </a:fld>
            <a:endParaRPr lang="en-US"/>
          </a:p>
        </p:txBody>
      </p:sp>
    </p:spTree>
    <p:extLst>
      <p:ext uri="{BB962C8B-B14F-4D97-AF65-F5344CB8AC3E}">
        <p14:creationId xmlns:p14="http://schemas.microsoft.com/office/powerpoint/2010/main" val="127955826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hyperlink" Target="https://www.linkedin.com/in/juantarquino" TargetMode="External"/><Relationship Id="rId2" Type="http://schemas.openxmlformats.org/officeDocument/2006/relationships/notesSlide" Target="../notesSlides/notesSlide2.xml"/><Relationship Id="rId1" Type="http://schemas.openxmlformats.org/officeDocument/2006/relationships/slideLayout" Target="../slideLayouts/slideLayout2.xml"/><Relationship Id="rId5" Type="http://schemas.openxmlformats.org/officeDocument/2006/relationships/image" Target="../media/image1.png"/><Relationship Id="rId4" Type="http://schemas.openxmlformats.org/officeDocument/2006/relationships/hyperlink" Target="https://jptarqu.blogspot.com/" TargetMode="Externa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hyperlink" Target="https://github.com/microsoft/RulesEngine" TargetMode="External"/><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hyperlink" Target="https://github.com/microsoft/power-fx-host-samples" TargetMode="External"/><Relationship Id="rId2" Type="http://schemas.openxmlformats.org/officeDocument/2006/relationships/hyperlink" Target="https://github.com/microsoft/Power-Fx" TargetMode="External"/><Relationship Id="rId1" Type="http://schemas.openxmlformats.org/officeDocument/2006/relationships/slideLayout" Target="../slideLayouts/slideLayout2.xml"/><Relationship Id="rId4" Type="http://schemas.openxmlformats.org/officeDocument/2006/relationships/hyperlink" Target="https://github.com/TheJuanitoLearnsShow/PuppyWorkbooks/blob/main/src/PuppyWorkbooks/5-Presentation/MinimalInterpreterExamples/Program.cs" TargetMode="Externa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32D45EE4-C4F0-4F72-B1C6-39F596D138A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Oval 9">
            <a:extLst>
              <a:ext uri="{FF2B5EF4-FFF2-40B4-BE49-F238E27FC236}">
                <a16:creationId xmlns:a16="http://schemas.microsoft.com/office/drawing/2014/main" id="{8C459BAD-4279-4A9D-B0C5-662C5F5ED21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V="1">
            <a:off x="3203463" y="-2060461"/>
            <a:ext cx="5649003" cy="10651671"/>
          </a:xfrm>
          <a:custGeom>
            <a:avLst/>
            <a:gdLst>
              <a:gd name="csX0" fmla="*/ 0 w 5649003"/>
              <a:gd name="csY0" fmla="*/ 5325836 h 10651671"/>
              <a:gd name="csX1" fmla="*/ 2824502 w 5649003"/>
              <a:gd name="csY1" fmla="*/ 0 h 10651671"/>
              <a:gd name="csX2" fmla="*/ 5649004 w 5649003"/>
              <a:gd name="csY2" fmla="*/ 5325836 h 10651671"/>
              <a:gd name="csX3" fmla="*/ 2824502 w 5649003"/>
              <a:gd name="csY3" fmla="*/ 10651672 h 10651671"/>
              <a:gd name="csX4" fmla="*/ 0 w 5649003"/>
              <a:gd name="csY4" fmla="*/ 5325836 h 10651671"/>
            </a:gdLst>
            <a:ahLst/>
            <a:cxnLst>
              <a:cxn ang="0">
                <a:pos x="csX0" y="csY0"/>
              </a:cxn>
              <a:cxn ang="0">
                <a:pos x="csX1" y="csY1"/>
              </a:cxn>
              <a:cxn ang="0">
                <a:pos x="csX2" y="csY2"/>
              </a:cxn>
              <a:cxn ang="0">
                <a:pos x="csX3" y="csY3"/>
              </a:cxn>
              <a:cxn ang="0">
                <a:pos x="csX4" y="csY4"/>
              </a:cxn>
            </a:cxnLst>
            <a:rect l="l" t="t" r="r" b="b"/>
            <a:pathLst>
              <a:path w="5649003" h="10651671" fill="none" extrusionOk="0">
                <a:moveTo>
                  <a:pt x="0" y="5325836"/>
                </a:moveTo>
                <a:cubicBezTo>
                  <a:pt x="186946" y="2320485"/>
                  <a:pt x="1438121" y="-52385"/>
                  <a:pt x="2824502" y="0"/>
                </a:cubicBezTo>
                <a:cubicBezTo>
                  <a:pt x="4703838" y="-43168"/>
                  <a:pt x="5583840" y="2369660"/>
                  <a:pt x="5649004" y="5325836"/>
                </a:cubicBezTo>
                <a:cubicBezTo>
                  <a:pt x="5518761" y="8289338"/>
                  <a:pt x="4285196" y="10894014"/>
                  <a:pt x="2824502" y="10651672"/>
                </a:cubicBezTo>
                <a:cubicBezTo>
                  <a:pt x="1536945" y="11016699"/>
                  <a:pt x="142947" y="8418643"/>
                  <a:pt x="0" y="5325836"/>
                </a:cubicBezTo>
                <a:close/>
              </a:path>
              <a:path w="5649003" h="10651671" stroke="0" extrusionOk="0">
                <a:moveTo>
                  <a:pt x="0" y="5325836"/>
                </a:moveTo>
                <a:cubicBezTo>
                  <a:pt x="-54350" y="2332108"/>
                  <a:pt x="1351726" y="167869"/>
                  <a:pt x="2824502" y="0"/>
                </a:cubicBezTo>
                <a:cubicBezTo>
                  <a:pt x="4182679" y="-143942"/>
                  <a:pt x="5672665" y="2549517"/>
                  <a:pt x="5649004" y="5325836"/>
                </a:cubicBezTo>
                <a:cubicBezTo>
                  <a:pt x="5518596" y="8280244"/>
                  <a:pt x="4081190" y="10622204"/>
                  <a:pt x="2824502" y="10651672"/>
                </a:cubicBezTo>
                <a:cubicBezTo>
                  <a:pt x="1216708" y="10537144"/>
                  <a:pt x="-100850" y="8264979"/>
                  <a:pt x="0" y="5325836"/>
                </a:cubicBezTo>
                <a:close/>
              </a:path>
            </a:pathLst>
          </a:custGeom>
          <a:solidFill>
            <a:schemeClr val="accent2"/>
          </a:solidFill>
          <a:ln w="57150">
            <a:solidFill>
              <a:schemeClr val="accent2"/>
            </a:solidFill>
            <a:extLst>
              <a:ext uri="{C807C97D-BFC1-408E-A445-0C87EB9F89A2}">
                <ask:lineSketchStyleProps xmlns:ask="http://schemas.microsoft.com/office/drawing/2018/sketchyshapes" sd="63743190">
                  <a:prstGeom prst="ellipse">
                    <a:avLst/>
                  </a:prstGeom>
                  <ask:type>
                    <ask:lineSketchCurve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21C7C281-0D8A-7D1A-1A3A-A9AA7B2EC34A}"/>
              </a:ext>
            </a:extLst>
          </p:cNvPr>
          <p:cNvSpPr>
            <a:spLocks noGrp="1"/>
          </p:cNvSpPr>
          <p:nvPr>
            <p:ph type="ctrTitle"/>
          </p:nvPr>
        </p:nvSpPr>
        <p:spPr>
          <a:xfrm>
            <a:off x="2066544" y="1911096"/>
            <a:ext cx="8055864" cy="2076651"/>
          </a:xfrm>
        </p:spPr>
        <p:txBody>
          <a:bodyPr anchor="b">
            <a:normAutofit/>
          </a:bodyPr>
          <a:lstStyle/>
          <a:p>
            <a:r>
              <a:rPr lang="en-US" sz="6600" dirty="0">
                <a:solidFill>
                  <a:srgbClr val="FFFFFF"/>
                </a:solidFill>
              </a:rPr>
              <a:t>Embed </a:t>
            </a:r>
            <a:r>
              <a:rPr lang="en-US" sz="6600" dirty="0" err="1">
                <a:solidFill>
                  <a:srgbClr val="FFFFFF"/>
                </a:solidFill>
              </a:rPr>
              <a:t>PowerFX</a:t>
            </a:r>
            <a:r>
              <a:rPr lang="en-US" sz="6600" dirty="0">
                <a:solidFill>
                  <a:srgbClr val="FFFFFF"/>
                </a:solidFill>
              </a:rPr>
              <a:t> in your .NET Apps!</a:t>
            </a:r>
          </a:p>
        </p:txBody>
      </p:sp>
      <p:sp>
        <p:nvSpPr>
          <p:cNvPr id="3" name="Subtitle 2">
            <a:extLst>
              <a:ext uri="{FF2B5EF4-FFF2-40B4-BE49-F238E27FC236}">
                <a16:creationId xmlns:a16="http://schemas.microsoft.com/office/drawing/2014/main" id="{CA977AF2-7DD2-BDC2-A7C1-9D392D486378}"/>
              </a:ext>
            </a:extLst>
          </p:cNvPr>
          <p:cNvSpPr>
            <a:spLocks noGrp="1"/>
          </p:cNvSpPr>
          <p:nvPr>
            <p:ph type="subTitle" idx="1"/>
          </p:nvPr>
        </p:nvSpPr>
        <p:spPr>
          <a:xfrm>
            <a:off x="3227832" y="4353507"/>
            <a:ext cx="5733288" cy="932688"/>
          </a:xfrm>
        </p:spPr>
        <p:txBody>
          <a:bodyPr>
            <a:normAutofit/>
          </a:bodyPr>
          <a:lstStyle/>
          <a:p>
            <a:endParaRPr lang="en-US">
              <a:solidFill>
                <a:srgbClr val="FFFFFF"/>
              </a:solidFill>
            </a:endParaRPr>
          </a:p>
        </p:txBody>
      </p:sp>
      <p:sp>
        <p:nvSpPr>
          <p:cNvPr id="12" name="sketch line">
            <a:extLst>
              <a:ext uri="{FF2B5EF4-FFF2-40B4-BE49-F238E27FC236}">
                <a16:creationId xmlns:a16="http://schemas.microsoft.com/office/drawing/2014/main" id="{0953BC39-9D68-40BE-BF3C-5C4EB782AF9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974206" y="4173498"/>
            <a:ext cx="4243589" cy="18288"/>
          </a:xfrm>
          <a:custGeom>
            <a:avLst/>
            <a:gdLst>
              <a:gd name="csX0" fmla="*/ 0 w 4243589"/>
              <a:gd name="csY0" fmla="*/ 0 h 18288"/>
              <a:gd name="csX1" fmla="*/ 563791 w 4243589"/>
              <a:gd name="csY1" fmla="*/ 0 h 18288"/>
              <a:gd name="csX2" fmla="*/ 1042710 w 4243589"/>
              <a:gd name="csY2" fmla="*/ 0 h 18288"/>
              <a:gd name="csX3" fmla="*/ 1564066 w 4243589"/>
              <a:gd name="csY3" fmla="*/ 0 h 18288"/>
              <a:gd name="csX4" fmla="*/ 2212729 w 4243589"/>
              <a:gd name="csY4" fmla="*/ 0 h 18288"/>
              <a:gd name="csX5" fmla="*/ 2776520 w 4243589"/>
              <a:gd name="csY5" fmla="*/ 0 h 18288"/>
              <a:gd name="csX6" fmla="*/ 3297875 w 4243589"/>
              <a:gd name="csY6" fmla="*/ 0 h 18288"/>
              <a:gd name="csX7" fmla="*/ 4243589 w 4243589"/>
              <a:gd name="csY7" fmla="*/ 0 h 18288"/>
              <a:gd name="csX8" fmla="*/ 4243589 w 4243589"/>
              <a:gd name="csY8" fmla="*/ 18288 h 18288"/>
              <a:gd name="csX9" fmla="*/ 3637362 w 4243589"/>
              <a:gd name="csY9" fmla="*/ 18288 h 18288"/>
              <a:gd name="csX10" fmla="*/ 3116007 w 4243589"/>
              <a:gd name="csY10" fmla="*/ 18288 h 18288"/>
              <a:gd name="csX11" fmla="*/ 2424908 w 4243589"/>
              <a:gd name="csY11" fmla="*/ 18288 h 18288"/>
              <a:gd name="csX12" fmla="*/ 1861117 w 4243589"/>
              <a:gd name="csY12" fmla="*/ 18288 h 18288"/>
              <a:gd name="csX13" fmla="*/ 1382198 w 4243589"/>
              <a:gd name="csY13" fmla="*/ 18288 h 18288"/>
              <a:gd name="csX14" fmla="*/ 733535 w 4243589"/>
              <a:gd name="csY14" fmla="*/ 18288 h 18288"/>
              <a:gd name="csX15" fmla="*/ 0 w 4243589"/>
              <a:gd name="csY15" fmla="*/ 18288 h 18288"/>
              <a:gd name="csX16" fmla="*/ 0 w 4243589"/>
              <a:gd name="csY16"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Lst>
            <a:rect l="l" t="t" r="r" b="b"/>
            <a:pathLst>
              <a:path w="4243589" h="18288" fill="none" extrusionOk="0">
                <a:moveTo>
                  <a:pt x="0" y="0"/>
                </a:moveTo>
                <a:cubicBezTo>
                  <a:pt x="157351" y="-15653"/>
                  <a:pt x="378877" y="-5828"/>
                  <a:pt x="563791" y="0"/>
                </a:cubicBezTo>
                <a:cubicBezTo>
                  <a:pt x="748705" y="5828"/>
                  <a:pt x="905659" y="-5525"/>
                  <a:pt x="1042710" y="0"/>
                </a:cubicBezTo>
                <a:cubicBezTo>
                  <a:pt x="1179761" y="5525"/>
                  <a:pt x="1356845" y="-21288"/>
                  <a:pt x="1564066" y="0"/>
                </a:cubicBezTo>
                <a:cubicBezTo>
                  <a:pt x="1771287" y="21288"/>
                  <a:pt x="1912099" y="25135"/>
                  <a:pt x="2212729" y="0"/>
                </a:cubicBezTo>
                <a:cubicBezTo>
                  <a:pt x="2513359" y="-25135"/>
                  <a:pt x="2514918" y="-27119"/>
                  <a:pt x="2776520" y="0"/>
                </a:cubicBezTo>
                <a:cubicBezTo>
                  <a:pt x="3038122" y="27119"/>
                  <a:pt x="3178771" y="18116"/>
                  <a:pt x="3297875" y="0"/>
                </a:cubicBezTo>
                <a:cubicBezTo>
                  <a:pt x="3416980" y="-18116"/>
                  <a:pt x="4012240" y="-40869"/>
                  <a:pt x="4243589" y="0"/>
                </a:cubicBezTo>
                <a:cubicBezTo>
                  <a:pt x="4243987" y="7429"/>
                  <a:pt x="4243569" y="10822"/>
                  <a:pt x="4243589" y="18288"/>
                </a:cubicBezTo>
                <a:cubicBezTo>
                  <a:pt x="4112949" y="-2855"/>
                  <a:pt x="3928037" y="1831"/>
                  <a:pt x="3637362" y="18288"/>
                </a:cubicBezTo>
                <a:cubicBezTo>
                  <a:pt x="3346687" y="34745"/>
                  <a:pt x="3254446" y="26669"/>
                  <a:pt x="3116007" y="18288"/>
                </a:cubicBezTo>
                <a:cubicBezTo>
                  <a:pt x="2977569" y="9907"/>
                  <a:pt x="2620228" y="28873"/>
                  <a:pt x="2424908" y="18288"/>
                </a:cubicBezTo>
                <a:cubicBezTo>
                  <a:pt x="2229588" y="7703"/>
                  <a:pt x="2088287" y="-3854"/>
                  <a:pt x="1861117" y="18288"/>
                </a:cubicBezTo>
                <a:cubicBezTo>
                  <a:pt x="1633947" y="40430"/>
                  <a:pt x="1502447" y="-871"/>
                  <a:pt x="1382198" y="18288"/>
                </a:cubicBezTo>
                <a:cubicBezTo>
                  <a:pt x="1261949" y="37447"/>
                  <a:pt x="1045440" y="28353"/>
                  <a:pt x="733535" y="18288"/>
                </a:cubicBezTo>
                <a:cubicBezTo>
                  <a:pt x="421630" y="8223"/>
                  <a:pt x="341257" y="-18359"/>
                  <a:pt x="0" y="18288"/>
                </a:cubicBezTo>
                <a:cubicBezTo>
                  <a:pt x="-591" y="13205"/>
                  <a:pt x="-663" y="6329"/>
                  <a:pt x="0" y="0"/>
                </a:cubicBezTo>
                <a:close/>
              </a:path>
              <a:path w="4243589" h="18288" stroke="0" extrusionOk="0">
                <a:moveTo>
                  <a:pt x="0" y="0"/>
                </a:moveTo>
                <a:cubicBezTo>
                  <a:pt x="128164" y="17204"/>
                  <a:pt x="312653" y="1129"/>
                  <a:pt x="563791" y="0"/>
                </a:cubicBezTo>
                <a:cubicBezTo>
                  <a:pt x="814929" y="-1129"/>
                  <a:pt x="837271" y="8503"/>
                  <a:pt x="1042710" y="0"/>
                </a:cubicBezTo>
                <a:cubicBezTo>
                  <a:pt x="1248149" y="-8503"/>
                  <a:pt x="1588432" y="-28862"/>
                  <a:pt x="1733809" y="0"/>
                </a:cubicBezTo>
                <a:cubicBezTo>
                  <a:pt x="1879186" y="28862"/>
                  <a:pt x="2052815" y="5974"/>
                  <a:pt x="2297600" y="0"/>
                </a:cubicBezTo>
                <a:cubicBezTo>
                  <a:pt x="2542385" y="-5974"/>
                  <a:pt x="2699960" y="-23550"/>
                  <a:pt x="2861391" y="0"/>
                </a:cubicBezTo>
                <a:cubicBezTo>
                  <a:pt x="3022822" y="23550"/>
                  <a:pt x="3390411" y="25272"/>
                  <a:pt x="3552490" y="0"/>
                </a:cubicBezTo>
                <a:cubicBezTo>
                  <a:pt x="3714569" y="-25272"/>
                  <a:pt x="3950585" y="-31327"/>
                  <a:pt x="4243589" y="0"/>
                </a:cubicBezTo>
                <a:cubicBezTo>
                  <a:pt x="4242703" y="5429"/>
                  <a:pt x="4244410" y="14046"/>
                  <a:pt x="4243589" y="18288"/>
                </a:cubicBezTo>
                <a:cubicBezTo>
                  <a:pt x="4130424" y="-1240"/>
                  <a:pt x="3932803" y="42249"/>
                  <a:pt x="3722234" y="18288"/>
                </a:cubicBezTo>
                <a:cubicBezTo>
                  <a:pt x="3511665" y="-5673"/>
                  <a:pt x="3269903" y="45994"/>
                  <a:pt x="3116007" y="18288"/>
                </a:cubicBezTo>
                <a:cubicBezTo>
                  <a:pt x="2962111" y="-9418"/>
                  <a:pt x="2744280" y="23224"/>
                  <a:pt x="2509780" y="18288"/>
                </a:cubicBezTo>
                <a:cubicBezTo>
                  <a:pt x="2275280" y="13352"/>
                  <a:pt x="2066059" y="43664"/>
                  <a:pt x="1945989" y="18288"/>
                </a:cubicBezTo>
                <a:cubicBezTo>
                  <a:pt x="1825919" y="-7088"/>
                  <a:pt x="1407329" y="12616"/>
                  <a:pt x="1254890" y="18288"/>
                </a:cubicBezTo>
                <a:cubicBezTo>
                  <a:pt x="1102451" y="23960"/>
                  <a:pt x="837950" y="31673"/>
                  <a:pt x="563791" y="18288"/>
                </a:cubicBezTo>
                <a:cubicBezTo>
                  <a:pt x="289632" y="4903"/>
                  <a:pt x="132768" y="7105"/>
                  <a:pt x="0" y="18288"/>
                </a:cubicBezTo>
                <a:cubicBezTo>
                  <a:pt x="668" y="13665"/>
                  <a:pt x="578" y="5675"/>
                  <a:pt x="0" y="0"/>
                </a:cubicBezTo>
                <a:close/>
              </a:path>
            </a:pathLst>
          </a:custGeom>
          <a:solidFill>
            <a:srgbClr val="FFFFFF"/>
          </a:solidFill>
          <a:ln w="41275" cap="rnd">
            <a:solidFill>
              <a:srgbClr val="FFFFFF"/>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41148101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40EC05-4BE2-0827-7AA6-45C23C981DF4}"/>
              </a:ext>
            </a:extLst>
          </p:cNvPr>
          <p:cNvSpPr>
            <a:spLocks noGrp="1"/>
          </p:cNvSpPr>
          <p:nvPr>
            <p:ph type="title"/>
          </p:nvPr>
        </p:nvSpPr>
        <p:spPr>
          <a:xfrm>
            <a:off x="640080" y="329184"/>
            <a:ext cx="6894576" cy="1783080"/>
          </a:xfrm>
        </p:spPr>
        <p:txBody>
          <a:bodyPr anchor="b">
            <a:normAutofit/>
          </a:bodyPr>
          <a:lstStyle/>
          <a:p>
            <a:r>
              <a:rPr lang="en-US" sz="6600" dirty="0"/>
              <a:t>Intro</a:t>
            </a:r>
          </a:p>
        </p:txBody>
      </p:sp>
      <p:sp>
        <p:nvSpPr>
          <p:cNvPr id="3" name="Content Placeholder 2">
            <a:extLst>
              <a:ext uri="{FF2B5EF4-FFF2-40B4-BE49-F238E27FC236}">
                <a16:creationId xmlns:a16="http://schemas.microsoft.com/office/drawing/2014/main" id="{9482E84A-BDAD-C72C-F004-13D054A6BB29}"/>
              </a:ext>
            </a:extLst>
          </p:cNvPr>
          <p:cNvSpPr>
            <a:spLocks noGrp="1"/>
          </p:cNvSpPr>
          <p:nvPr>
            <p:ph idx="1"/>
          </p:nvPr>
        </p:nvSpPr>
        <p:spPr>
          <a:xfrm>
            <a:off x="640080" y="2706624"/>
            <a:ext cx="6894576" cy="3483864"/>
          </a:xfrm>
        </p:spPr>
        <p:txBody>
          <a:bodyPr>
            <a:normAutofit/>
          </a:bodyPr>
          <a:lstStyle/>
          <a:p>
            <a:r>
              <a:rPr lang="en-US" sz="2200" dirty="0"/>
              <a:t>Juan Pablo Tarquino </a:t>
            </a:r>
          </a:p>
          <a:p>
            <a:r>
              <a:rPr lang="en-US" sz="2200" dirty="0"/>
              <a:t>Software Developer with about 20 years of experience</a:t>
            </a:r>
          </a:p>
          <a:p>
            <a:pPr lvl="1"/>
            <a:r>
              <a:rPr lang="en-US" sz="2200" dirty="0"/>
              <a:t>LinkedIn</a:t>
            </a:r>
          </a:p>
          <a:p>
            <a:pPr lvl="2"/>
            <a:r>
              <a:rPr lang="en-US" sz="2200" dirty="0">
                <a:hlinkClick r:id="rId3"/>
              </a:rPr>
              <a:t>https://www.linkedin.com/in/juantarquino</a:t>
            </a:r>
            <a:r>
              <a:rPr lang="en-US" sz="2200" dirty="0"/>
              <a:t> </a:t>
            </a:r>
          </a:p>
          <a:p>
            <a:pPr lvl="1"/>
            <a:r>
              <a:rPr lang="en-US" sz="2200" dirty="0"/>
              <a:t>Blog (not updated often </a:t>
            </a:r>
            <a:r>
              <a:rPr lang="en-US" sz="2200" dirty="0">
                <a:sym typeface="Wingdings" panose="05000000000000000000" pitchFamily="2" charset="2"/>
              </a:rPr>
              <a:t> </a:t>
            </a:r>
            <a:r>
              <a:rPr lang="en-US" sz="2200" dirty="0"/>
              <a:t>)</a:t>
            </a:r>
          </a:p>
          <a:p>
            <a:pPr lvl="2"/>
            <a:r>
              <a:rPr lang="en-US" sz="2200" dirty="0">
                <a:hlinkClick r:id="rId4"/>
              </a:rPr>
              <a:t>https://jptarqu.blogspot.com</a:t>
            </a:r>
            <a:r>
              <a:rPr lang="en-US" sz="2200" dirty="0"/>
              <a:t>  </a:t>
            </a:r>
          </a:p>
          <a:p>
            <a:r>
              <a:rPr lang="en-US" sz="2200" dirty="0"/>
              <a:t>Sample repo for this session: </a:t>
            </a:r>
          </a:p>
          <a:p>
            <a:pPr lvl="1"/>
            <a:r>
              <a:rPr lang="en-US" sz="2200" dirty="0"/>
              <a:t>https://tinyurl.com/EmbedPowerFx </a:t>
            </a:r>
          </a:p>
          <a:p>
            <a:endParaRPr lang="en-US" sz="2200" dirty="0"/>
          </a:p>
        </p:txBody>
      </p:sp>
      <p:pic>
        <p:nvPicPr>
          <p:cNvPr id="7" name="Picture 6">
            <a:extLst>
              <a:ext uri="{FF2B5EF4-FFF2-40B4-BE49-F238E27FC236}">
                <a16:creationId xmlns:a16="http://schemas.microsoft.com/office/drawing/2014/main" id="{685DA20C-00C6-81E7-993F-496E86E2B133}"/>
              </a:ext>
            </a:extLst>
          </p:cNvPr>
          <p:cNvPicPr>
            <a:picLocks noChangeAspect="1"/>
          </p:cNvPicPr>
          <p:nvPr/>
        </p:nvPicPr>
        <p:blipFill>
          <a:blip r:embed="rId5"/>
          <a:srcRect t="24668" r="-4" b="15002"/>
          <a:stretch/>
        </p:blipFill>
        <p:spPr>
          <a:xfrm>
            <a:off x="8144356" y="4267201"/>
            <a:ext cx="4047645" cy="2590808"/>
          </a:xfrm>
          <a:custGeom>
            <a:avLst/>
            <a:gdLst/>
            <a:ahLst/>
            <a:cxnLst/>
            <a:rect l="l" t="t" r="r" b="b"/>
            <a:pathLst>
              <a:path w="4047645" h="2495811">
                <a:moveTo>
                  <a:pt x="2441891" y="4"/>
                </a:moveTo>
                <a:cubicBezTo>
                  <a:pt x="2489381" y="-78"/>
                  <a:pt x="2536882" y="1163"/>
                  <a:pt x="2584383" y="4428"/>
                </a:cubicBezTo>
                <a:cubicBezTo>
                  <a:pt x="2744314" y="17813"/>
                  <a:pt x="2904989" y="21079"/>
                  <a:pt x="3065367" y="14222"/>
                </a:cubicBezTo>
                <a:cubicBezTo>
                  <a:pt x="3194244" y="5694"/>
                  <a:pt x="3323514" y="4206"/>
                  <a:pt x="3452568" y="9782"/>
                </a:cubicBezTo>
                <a:cubicBezTo>
                  <a:pt x="3572813" y="16442"/>
                  <a:pt x="3693059" y="23233"/>
                  <a:pt x="3813712" y="19315"/>
                </a:cubicBezTo>
                <a:cubicBezTo>
                  <a:pt x="3861755" y="17748"/>
                  <a:pt x="3909121" y="15789"/>
                  <a:pt x="3956758" y="13177"/>
                </a:cubicBezTo>
                <a:lnTo>
                  <a:pt x="4047645" y="9696"/>
                </a:lnTo>
                <a:lnTo>
                  <a:pt x="4047645" y="2495811"/>
                </a:lnTo>
                <a:lnTo>
                  <a:pt x="28177" y="2495811"/>
                </a:lnTo>
                <a:lnTo>
                  <a:pt x="28782" y="2485852"/>
                </a:lnTo>
                <a:cubicBezTo>
                  <a:pt x="31911" y="2365446"/>
                  <a:pt x="35027" y="2245002"/>
                  <a:pt x="38157" y="2124521"/>
                </a:cubicBezTo>
                <a:cubicBezTo>
                  <a:pt x="38284" y="2119444"/>
                  <a:pt x="39171" y="2114494"/>
                  <a:pt x="39171" y="2109417"/>
                </a:cubicBezTo>
                <a:cubicBezTo>
                  <a:pt x="48166" y="1995573"/>
                  <a:pt x="53107" y="1881729"/>
                  <a:pt x="18899" y="1770550"/>
                </a:cubicBezTo>
                <a:cubicBezTo>
                  <a:pt x="15871" y="1760104"/>
                  <a:pt x="14262" y="1749304"/>
                  <a:pt x="14084" y="1738440"/>
                </a:cubicBezTo>
                <a:cubicBezTo>
                  <a:pt x="12413" y="1641514"/>
                  <a:pt x="16644" y="1544587"/>
                  <a:pt x="26754" y="1448181"/>
                </a:cubicBezTo>
                <a:cubicBezTo>
                  <a:pt x="31949" y="1389038"/>
                  <a:pt x="26754" y="1329006"/>
                  <a:pt x="43478" y="1270498"/>
                </a:cubicBezTo>
                <a:cubicBezTo>
                  <a:pt x="50864" y="1241421"/>
                  <a:pt x="55109" y="1211634"/>
                  <a:pt x="56147" y="1181656"/>
                </a:cubicBezTo>
                <a:cubicBezTo>
                  <a:pt x="59948" y="1109060"/>
                  <a:pt x="38537" y="1040779"/>
                  <a:pt x="18139" y="972244"/>
                </a:cubicBezTo>
                <a:cubicBezTo>
                  <a:pt x="7370" y="935945"/>
                  <a:pt x="-5426" y="898886"/>
                  <a:pt x="2429" y="860811"/>
                </a:cubicBezTo>
                <a:cubicBezTo>
                  <a:pt x="16707" y="802251"/>
                  <a:pt x="24854" y="742359"/>
                  <a:pt x="26754" y="682112"/>
                </a:cubicBezTo>
                <a:cubicBezTo>
                  <a:pt x="26754" y="639468"/>
                  <a:pt x="16365" y="597712"/>
                  <a:pt x="20039" y="555195"/>
                </a:cubicBezTo>
                <a:cubicBezTo>
                  <a:pt x="28211" y="472712"/>
                  <a:pt x="30238" y="389734"/>
                  <a:pt x="26121" y="306946"/>
                </a:cubicBezTo>
                <a:cubicBezTo>
                  <a:pt x="26095" y="273846"/>
                  <a:pt x="29846" y="240848"/>
                  <a:pt x="37270" y="208585"/>
                </a:cubicBezTo>
                <a:cubicBezTo>
                  <a:pt x="46506" y="151651"/>
                  <a:pt x="48419" y="93777"/>
                  <a:pt x="42971" y="36360"/>
                </a:cubicBezTo>
                <a:lnTo>
                  <a:pt x="38853" y="8429"/>
                </a:lnTo>
                <a:lnTo>
                  <a:pt x="56649" y="7824"/>
                </a:lnTo>
                <a:cubicBezTo>
                  <a:pt x="210497" y="-156"/>
                  <a:pt x="364754" y="3162"/>
                  <a:pt x="518087" y="17748"/>
                </a:cubicBezTo>
                <a:cubicBezTo>
                  <a:pt x="626567" y="25440"/>
                  <a:pt x="735534" y="24213"/>
                  <a:pt x="843809" y="14092"/>
                </a:cubicBezTo>
                <a:cubicBezTo>
                  <a:pt x="1042499" y="-1711"/>
                  <a:pt x="1240782" y="10958"/>
                  <a:pt x="1439065" y="21666"/>
                </a:cubicBezTo>
                <a:cubicBezTo>
                  <a:pt x="1631105" y="32113"/>
                  <a:pt x="1823010" y="24408"/>
                  <a:pt x="2015050" y="17487"/>
                </a:cubicBezTo>
                <a:cubicBezTo>
                  <a:pt x="2157045" y="12394"/>
                  <a:pt x="2299420" y="249"/>
                  <a:pt x="2441891" y="4"/>
                </a:cubicBezTo>
                <a:close/>
              </a:path>
            </a:pathLst>
          </a:custGeom>
        </p:spPr>
      </p:pic>
    </p:spTree>
    <p:extLst>
      <p:ext uri="{BB962C8B-B14F-4D97-AF65-F5344CB8AC3E}">
        <p14:creationId xmlns:p14="http://schemas.microsoft.com/office/powerpoint/2010/main" val="152846816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00EDD19-6802-4EC3-95CE-CFFAB042CF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3630D041-AC4E-A657-E3F2-972A41C6004F}"/>
              </a:ext>
            </a:extLst>
          </p:cNvPr>
          <p:cNvSpPr>
            <a:spLocks noGrp="1"/>
          </p:cNvSpPr>
          <p:nvPr>
            <p:ph type="title"/>
          </p:nvPr>
        </p:nvSpPr>
        <p:spPr>
          <a:xfrm>
            <a:off x="838200" y="365125"/>
            <a:ext cx="10515600" cy="1325563"/>
          </a:xfrm>
        </p:spPr>
        <p:txBody>
          <a:bodyPr>
            <a:normAutofit/>
          </a:bodyPr>
          <a:lstStyle/>
          <a:p>
            <a:r>
              <a:rPr lang="en-US" sz="5400" dirty="0"/>
              <a:t>Today’s Talk</a:t>
            </a:r>
          </a:p>
        </p:txBody>
      </p:sp>
      <p:sp>
        <p:nvSpPr>
          <p:cNvPr id="10" name="sketch line">
            <a:extLst>
              <a:ext uri="{FF2B5EF4-FFF2-40B4-BE49-F238E27FC236}">
                <a16:creationId xmlns:a16="http://schemas.microsoft.com/office/drawing/2014/main" id="{DB17E863-922E-4C26-BD64-E8FD41D2866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036" y="1677373"/>
            <a:ext cx="10853928" cy="18288"/>
          </a:xfrm>
          <a:custGeom>
            <a:avLst/>
            <a:gdLst>
              <a:gd name="csX0" fmla="*/ 0 w 10853928"/>
              <a:gd name="csY0" fmla="*/ 0 h 18288"/>
              <a:gd name="csX1" fmla="*/ 461292 w 10853928"/>
              <a:gd name="csY1" fmla="*/ 0 h 18288"/>
              <a:gd name="csX2" fmla="*/ 1139662 w 10853928"/>
              <a:gd name="csY2" fmla="*/ 0 h 18288"/>
              <a:gd name="csX3" fmla="*/ 1926572 w 10853928"/>
              <a:gd name="csY3" fmla="*/ 0 h 18288"/>
              <a:gd name="csX4" fmla="*/ 2279325 w 10853928"/>
              <a:gd name="csY4" fmla="*/ 0 h 18288"/>
              <a:gd name="csX5" fmla="*/ 2632078 w 10853928"/>
              <a:gd name="csY5" fmla="*/ 0 h 18288"/>
              <a:gd name="csX6" fmla="*/ 3527527 w 10853928"/>
              <a:gd name="csY6" fmla="*/ 0 h 18288"/>
              <a:gd name="csX7" fmla="*/ 4205897 w 10853928"/>
              <a:gd name="csY7" fmla="*/ 0 h 18288"/>
              <a:gd name="csX8" fmla="*/ 4558650 w 10853928"/>
              <a:gd name="csY8" fmla="*/ 0 h 18288"/>
              <a:gd name="csX9" fmla="*/ 5237020 w 10853928"/>
              <a:gd name="csY9" fmla="*/ 0 h 18288"/>
              <a:gd name="csX10" fmla="*/ 6132469 w 10853928"/>
              <a:gd name="csY10" fmla="*/ 0 h 18288"/>
              <a:gd name="csX11" fmla="*/ 6702301 w 10853928"/>
              <a:gd name="csY11" fmla="*/ 0 h 18288"/>
              <a:gd name="csX12" fmla="*/ 7272132 w 10853928"/>
              <a:gd name="csY12" fmla="*/ 0 h 18288"/>
              <a:gd name="csX13" fmla="*/ 7950502 w 10853928"/>
              <a:gd name="csY13" fmla="*/ 0 h 18288"/>
              <a:gd name="csX14" fmla="*/ 8737412 w 10853928"/>
              <a:gd name="csY14" fmla="*/ 0 h 18288"/>
              <a:gd name="csX15" fmla="*/ 9524322 w 10853928"/>
              <a:gd name="csY15" fmla="*/ 0 h 18288"/>
              <a:gd name="csX16" fmla="*/ 10853928 w 10853928"/>
              <a:gd name="csY16" fmla="*/ 0 h 18288"/>
              <a:gd name="csX17" fmla="*/ 10853928 w 10853928"/>
              <a:gd name="csY17" fmla="*/ 18288 h 18288"/>
              <a:gd name="csX18" fmla="*/ 10392636 w 10853928"/>
              <a:gd name="csY18" fmla="*/ 18288 h 18288"/>
              <a:gd name="csX19" fmla="*/ 9497187 w 10853928"/>
              <a:gd name="csY19" fmla="*/ 18288 h 18288"/>
              <a:gd name="csX20" fmla="*/ 8818817 w 10853928"/>
              <a:gd name="csY20" fmla="*/ 18288 h 18288"/>
              <a:gd name="csX21" fmla="*/ 8466064 w 10853928"/>
              <a:gd name="csY21" fmla="*/ 18288 h 18288"/>
              <a:gd name="csX22" fmla="*/ 7787693 w 10853928"/>
              <a:gd name="csY22" fmla="*/ 18288 h 18288"/>
              <a:gd name="csX23" fmla="*/ 7217862 w 10853928"/>
              <a:gd name="csY23" fmla="*/ 18288 h 18288"/>
              <a:gd name="csX24" fmla="*/ 6648031 w 10853928"/>
              <a:gd name="csY24" fmla="*/ 18288 h 18288"/>
              <a:gd name="csX25" fmla="*/ 6078200 w 10853928"/>
              <a:gd name="csY25" fmla="*/ 18288 h 18288"/>
              <a:gd name="csX26" fmla="*/ 5508368 w 10853928"/>
              <a:gd name="csY26" fmla="*/ 18288 h 18288"/>
              <a:gd name="csX27" fmla="*/ 4721459 w 10853928"/>
              <a:gd name="csY27" fmla="*/ 18288 h 18288"/>
              <a:gd name="csX28" fmla="*/ 4043088 w 10853928"/>
              <a:gd name="csY28" fmla="*/ 18288 h 18288"/>
              <a:gd name="csX29" fmla="*/ 3690336 w 10853928"/>
              <a:gd name="csY29" fmla="*/ 18288 h 18288"/>
              <a:gd name="csX30" fmla="*/ 3120504 w 10853928"/>
              <a:gd name="csY30" fmla="*/ 18288 h 18288"/>
              <a:gd name="csX31" fmla="*/ 2333595 w 10853928"/>
              <a:gd name="csY31" fmla="*/ 18288 h 18288"/>
              <a:gd name="csX32" fmla="*/ 1872303 w 10853928"/>
              <a:gd name="csY32" fmla="*/ 18288 h 18288"/>
              <a:gd name="csX33" fmla="*/ 976854 w 10853928"/>
              <a:gd name="csY33" fmla="*/ 18288 h 18288"/>
              <a:gd name="csX34" fmla="*/ 0 w 10853928"/>
              <a:gd name="csY34" fmla="*/ 18288 h 18288"/>
              <a:gd name="csX35" fmla="*/ 0 w 10853928"/>
              <a:gd name="csY35"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Lst>
            <a:rect l="l" t="t" r="r" b="b"/>
            <a:pathLst>
              <a:path w="10853928" h="18288" fill="none" extrusionOk="0">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w="10853928" h="18288" stroke="0" extrusionOk="0">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598D7916-63CE-FB74-076E-E44A9B1B59C9}"/>
              </a:ext>
            </a:extLst>
          </p:cNvPr>
          <p:cNvSpPr>
            <a:spLocks noGrp="1"/>
          </p:cNvSpPr>
          <p:nvPr>
            <p:ph idx="1"/>
          </p:nvPr>
        </p:nvSpPr>
        <p:spPr>
          <a:xfrm>
            <a:off x="838200" y="1929384"/>
            <a:ext cx="10515600" cy="4251960"/>
          </a:xfrm>
        </p:spPr>
        <p:txBody>
          <a:bodyPr>
            <a:normAutofit/>
          </a:bodyPr>
          <a:lstStyle/>
          <a:p>
            <a:r>
              <a:rPr lang="en-US" sz="2200" dirty="0"/>
              <a:t>Problem scenario</a:t>
            </a:r>
          </a:p>
          <a:p>
            <a:r>
              <a:rPr lang="en-US" sz="2200" dirty="0"/>
              <a:t>Intro to </a:t>
            </a:r>
            <a:r>
              <a:rPr lang="en-US" sz="2200" dirty="0" err="1"/>
              <a:t>PowerFX</a:t>
            </a:r>
            <a:endParaRPr lang="en-US" sz="2200" dirty="0"/>
          </a:p>
          <a:p>
            <a:r>
              <a:rPr lang="en-US" sz="2200" dirty="0"/>
              <a:t>Why </a:t>
            </a:r>
            <a:r>
              <a:rPr lang="en-US" sz="2200" dirty="0" err="1"/>
              <a:t>why</a:t>
            </a:r>
            <a:r>
              <a:rPr lang="en-US" sz="2200" dirty="0"/>
              <a:t> embedding </a:t>
            </a:r>
            <a:r>
              <a:rPr lang="en-US" sz="2200" dirty="0" err="1"/>
              <a:t>PowerFX</a:t>
            </a:r>
            <a:r>
              <a:rPr lang="en-US" sz="2200" dirty="0"/>
              <a:t> is a solution to the problem</a:t>
            </a:r>
          </a:p>
          <a:p>
            <a:r>
              <a:rPr lang="en-US" sz="2200" dirty="0"/>
              <a:t>How to run the </a:t>
            </a:r>
            <a:r>
              <a:rPr lang="en-US" sz="2200" dirty="0" err="1"/>
              <a:t>PowerFX</a:t>
            </a:r>
            <a:r>
              <a:rPr lang="en-US" sz="2200" dirty="0"/>
              <a:t> interpreter from .NET</a:t>
            </a:r>
          </a:p>
          <a:p>
            <a:r>
              <a:rPr lang="en-US" sz="2200" dirty="0"/>
              <a:t>How to extend the </a:t>
            </a:r>
            <a:r>
              <a:rPr lang="en-US" sz="2200" dirty="0" err="1"/>
              <a:t>PowerFX</a:t>
            </a:r>
            <a:r>
              <a:rPr lang="en-US" sz="2200" dirty="0"/>
              <a:t> interpreter</a:t>
            </a:r>
          </a:p>
        </p:txBody>
      </p:sp>
    </p:spTree>
    <p:extLst>
      <p:ext uri="{BB962C8B-B14F-4D97-AF65-F5344CB8AC3E}">
        <p14:creationId xmlns:p14="http://schemas.microsoft.com/office/powerpoint/2010/main" val="308555693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907EF6B7-1338-4443-8C46-6A318D952D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Shape 9">
            <a:extLst>
              <a:ext uri="{FF2B5EF4-FFF2-40B4-BE49-F238E27FC236}">
                <a16:creationId xmlns:a16="http://schemas.microsoft.com/office/drawing/2014/main" id="{DAAE4CDD-124C-4DCF-9584-B6033B545D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4167271" cy="6858000"/>
          </a:xfrm>
          <a:custGeom>
            <a:avLst/>
            <a:gdLst>
              <a:gd name="connsiteX0" fmla="*/ 0 w 4167271"/>
              <a:gd name="connsiteY0" fmla="*/ 0 h 6858000"/>
              <a:gd name="connsiteX1" fmla="*/ 2259550 w 4167271"/>
              <a:gd name="connsiteY1" fmla="*/ 0 h 6858000"/>
              <a:gd name="connsiteX2" fmla="*/ 2387803 w 4167271"/>
              <a:gd name="connsiteY2" fmla="*/ 82222 h 6858000"/>
              <a:gd name="connsiteX3" fmla="*/ 4167271 w 4167271"/>
              <a:gd name="connsiteY3" fmla="*/ 3429000 h 6858000"/>
              <a:gd name="connsiteX4" fmla="*/ 2387803 w 4167271"/>
              <a:gd name="connsiteY4" fmla="*/ 6775779 h 6858000"/>
              <a:gd name="connsiteX5" fmla="*/ 2259550 w 4167271"/>
              <a:gd name="connsiteY5" fmla="*/ 6858000 h 6858000"/>
              <a:gd name="connsiteX6" fmla="*/ 0 w 4167271"/>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67271" h="6858000">
                <a:moveTo>
                  <a:pt x="0" y="0"/>
                </a:moveTo>
                <a:lnTo>
                  <a:pt x="2259550" y="0"/>
                </a:lnTo>
                <a:lnTo>
                  <a:pt x="2387803" y="82222"/>
                </a:lnTo>
                <a:cubicBezTo>
                  <a:pt x="3461407" y="807534"/>
                  <a:pt x="4167271" y="2035835"/>
                  <a:pt x="4167271" y="3429000"/>
                </a:cubicBezTo>
                <a:cubicBezTo>
                  <a:pt x="4167271" y="4822165"/>
                  <a:pt x="3461407" y="6050467"/>
                  <a:pt x="2387803" y="6775779"/>
                </a:cubicBezTo>
                <a:lnTo>
                  <a:pt x="2259550" y="6858000"/>
                </a:lnTo>
                <a:lnTo>
                  <a:pt x="0" y="685800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FD8F957-F573-EC9A-C2C0-1FCECDB23951}"/>
              </a:ext>
            </a:extLst>
          </p:cNvPr>
          <p:cNvSpPr>
            <a:spLocks noGrp="1"/>
          </p:cNvSpPr>
          <p:nvPr>
            <p:ph type="title"/>
          </p:nvPr>
        </p:nvSpPr>
        <p:spPr>
          <a:xfrm>
            <a:off x="686834" y="1153572"/>
            <a:ext cx="3200400" cy="4461163"/>
          </a:xfrm>
        </p:spPr>
        <p:txBody>
          <a:bodyPr>
            <a:normAutofit/>
          </a:bodyPr>
          <a:lstStyle/>
          <a:p>
            <a:r>
              <a:rPr lang="en-US" sz="3700">
                <a:solidFill>
                  <a:srgbClr val="FFFFFF"/>
                </a:solidFill>
              </a:rPr>
              <a:t>Once upon a time in Pizzas’R’Us™…</a:t>
            </a:r>
          </a:p>
        </p:txBody>
      </p:sp>
      <p:sp>
        <p:nvSpPr>
          <p:cNvPr id="12" name="Arc 11">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7550402" y="2455479"/>
            <a:ext cx="4083433"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3" name="Content Placeholder 2">
            <a:extLst>
              <a:ext uri="{FF2B5EF4-FFF2-40B4-BE49-F238E27FC236}">
                <a16:creationId xmlns:a16="http://schemas.microsoft.com/office/drawing/2014/main" id="{5D3158F9-EE5C-E168-CA1E-AE34B3D45B60}"/>
              </a:ext>
            </a:extLst>
          </p:cNvPr>
          <p:cNvSpPr>
            <a:spLocks noGrp="1"/>
          </p:cNvSpPr>
          <p:nvPr>
            <p:ph idx="1"/>
          </p:nvPr>
        </p:nvSpPr>
        <p:spPr>
          <a:xfrm>
            <a:off x="4447308" y="591344"/>
            <a:ext cx="6906491" cy="5585619"/>
          </a:xfrm>
        </p:spPr>
        <p:txBody>
          <a:bodyPr anchor="ctr">
            <a:normAutofit/>
          </a:bodyPr>
          <a:lstStyle/>
          <a:p>
            <a:r>
              <a:rPr lang="en-US"/>
              <a:t>Pizzas’R’Us™ is a small but profitable company, trying to be as nimble as possible, providing pizza services to restaurants and super-markets.</a:t>
            </a:r>
          </a:p>
        </p:txBody>
      </p:sp>
    </p:spTree>
    <p:extLst>
      <p:ext uri="{BB962C8B-B14F-4D97-AF65-F5344CB8AC3E}">
        <p14:creationId xmlns:p14="http://schemas.microsoft.com/office/powerpoint/2010/main" val="32505172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00EDD19-6802-4EC3-95CE-CFFAB042CF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BE3AEE24-F59E-E1BF-065D-732CB17481AB}"/>
              </a:ext>
            </a:extLst>
          </p:cNvPr>
          <p:cNvSpPr>
            <a:spLocks noGrp="1"/>
          </p:cNvSpPr>
          <p:nvPr>
            <p:ph type="title"/>
          </p:nvPr>
        </p:nvSpPr>
        <p:spPr>
          <a:xfrm>
            <a:off x="838200" y="365125"/>
            <a:ext cx="10515600" cy="1325563"/>
          </a:xfrm>
        </p:spPr>
        <p:txBody>
          <a:bodyPr>
            <a:normAutofit/>
          </a:bodyPr>
          <a:lstStyle/>
          <a:p>
            <a:r>
              <a:rPr lang="en-US" sz="5400" dirty="0"/>
              <a:t>Problem scenario</a:t>
            </a:r>
          </a:p>
        </p:txBody>
      </p:sp>
      <p:sp>
        <p:nvSpPr>
          <p:cNvPr id="10" name="sketch line">
            <a:extLst>
              <a:ext uri="{FF2B5EF4-FFF2-40B4-BE49-F238E27FC236}">
                <a16:creationId xmlns:a16="http://schemas.microsoft.com/office/drawing/2014/main" id="{DB17E863-922E-4C26-BD64-E8FD41D2866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036" y="1677373"/>
            <a:ext cx="10853928" cy="18288"/>
          </a:xfrm>
          <a:custGeom>
            <a:avLst/>
            <a:gdLst>
              <a:gd name="csX0" fmla="*/ 0 w 10853928"/>
              <a:gd name="csY0" fmla="*/ 0 h 18288"/>
              <a:gd name="csX1" fmla="*/ 461292 w 10853928"/>
              <a:gd name="csY1" fmla="*/ 0 h 18288"/>
              <a:gd name="csX2" fmla="*/ 1139662 w 10853928"/>
              <a:gd name="csY2" fmla="*/ 0 h 18288"/>
              <a:gd name="csX3" fmla="*/ 1926572 w 10853928"/>
              <a:gd name="csY3" fmla="*/ 0 h 18288"/>
              <a:gd name="csX4" fmla="*/ 2279325 w 10853928"/>
              <a:gd name="csY4" fmla="*/ 0 h 18288"/>
              <a:gd name="csX5" fmla="*/ 2632078 w 10853928"/>
              <a:gd name="csY5" fmla="*/ 0 h 18288"/>
              <a:gd name="csX6" fmla="*/ 3527527 w 10853928"/>
              <a:gd name="csY6" fmla="*/ 0 h 18288"/>
              <a:gd name="csX7" fmla="*/ 4205897 w 10853928"/>
              <a:gd name="csY7" fmla="*/ 0 h 18288"/>
              <a:gd name="csX8" fmla="*/ 4558650 w 10853928"/>
              <a:gd name="csY8" fmla="*/ 0 h 18288"/>
              <a:gd name="csX9" fmla="*/ 5237020 w 10853928"/>
              <a:gd name="csY9" fmla="*/ 0 h 18288"/>
              <a:gd name="csX10" fmla="*/ 6132469 w 10853928"/>
              <a:gd name="csY10" fmla="*/ 0 h 18288"/>
              <a:gd name="csX11" fmla="*/ 6702301 w 10853928"/>
              <a:gd name="csY11" fmla="*/ 0 h 18288"/>
              <a:gd name="csX12" fmla="*/ 7272132 w 10853928"/>
              <a:gd name="csY12" fmla="*/ 0 h 18288"/>
              <a:gd name="csX13" fmla="*/ 7950502 w 10853928"/>
              <a:gd name="csY13" fmla="*/ 0 h 18288"/>
              <a:gd name="csX14" fmla="*/ 8737412 w 10853928"/>
              <a:gd name="csY14" fmla="*/ 0 h 18288"/>
              <a:gd name="csX15" fmla="*/ 9524322 w 10853928"/>
              <a:gd name="csY15" fmla="*/ 0 h 18288"/>
              <a:gd name="csX16" fmla="*/ 10853928 w 10853928"/>
              <a:gd name="csY16" fmla="*/ 0 h 18288"/>
              <a:gd name="csX17" fmla="*/ 10853928 w 10853928"/>
              <a:gd name="csY17" fmla="*/ 18288 h 18288"/>
              <a:gd name="csX18" fmla="*/ 10392636 w 10853928"/>
              <a:gd name="csY18" fmla="*/ 18288 h 18288"/>
              <a:gd name="csX19" fmla="*/ 9497187 w 10853928"/>
              <a:gd name="csY19" fmla="*/ 18288 h 18288"/>
              <a:gd name="csX20" fmla="*/ 8818817 w 10853928"/>
              <a:gd name="csY20" fmla="*/ 18288 h 18288"/>
              <a:gd name="csX21" fmla="*/ 8466064 w 10853928"/>
              <a:gd name="csY21" fmla="*/ 18288 h 18288"/>
              <a:gd name="csX22" fmla="*/ 7787693 w 10853928"/>
              <a:gd name="csY22" fmla="*/ 18288 h 18288"/>
              <a:gd name="csX23" fmla="*/ 7217862 w 10853928"/>
              <a:gd name="csY23" fmla="*/ 18288 h 18288"/>
              <a:gd name="csX24" fmla="*/ 6648031 w 10853928"/>
              <a:gd name="csY24" fmla="*/ 18288 h 18288"/>
              <a:gd name="csX25" fmla="*/ 6078200 w 10853928"/>
              <a:gd name="csY25" fmla="*/ 18288 h 18288"/>
              <a:gd name="csX26" fmla="*/ 5508368 w 10853928"/>
              <a:gd name="csY26" fmla="*/ 18288 h 18288"/>
              <a:gd name="csX27" fmla="*/ 4721459 w 10853928"/>
              <a:gd name="csY27" fmla="*/ 18288 h 18288"/>
              <a:gd name="csX28" fmla="*/ 4043088 w 10853928"/>
              <a:gd name="csY28" fmla="*/ 18288 h 18288"/>
              <a:gd name="csX29" fmla="*/ 3690336 w 10853928"/>
              <a:gd name="csY29" fmla="*/ 18288 h 18288"/>
              <a:gd name="csX30" fmla="*/ 3120504 w 10853928"/>
              <a:gd name="csY30" fmla="*/ 18288 h 18288"/>
              <a:gd name="csX31" fmla="*/ 2333595 w 10853928"/>
              <a:gd name="csY31" fmla="*/ 18288 h 18288"/>
              <a:gd name="csX32" fmla="*/ 1872303 w 10853928"/>
              <a:gd name="csY32" fmla="*/ 18288 h 18288"/>
              <a:gd name="csX33" fmla="*/ 976854 w 10853928"/>
              <a:gd name="csY33" fmla="*/ 18288 h 18288"/>
              <a:gd name="csX34" fmla="*/ 0 w 10853928"/>
              <a:gd name="csY34" fmla="*/ 18288 h 18288"/>
              <a:gd name="csX35" fmla="*/ 0 w 10853928"/>
              <a:gd name="csY35"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Lst>
            <a:rect l="l" t="t" r="r" b="b"/>
            <a:pathLst>
              <a:path w="10853928" h="18288" fill="none" extrusionOk="0">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w="10853928" h="18288" stroke="0" extrusionOk="0">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D8DAAEB9-574D-C5FA-A69B-705C75250794}"/>
              </a:ext>
            </a:extLst>
          </p:cNvPr>
          <p:cNvSpPr>
            <a:spLocks noGrp="1"/>
          </p:cNvSpPr>
          <p:nvPr>
            <p:ph idx="1"/>
          </p:nvPr>
        </p:nvSpPr>
        <p:spPr>
          <a:xfrm>
            <a:off x="838200" y="1929384"/>
            <a:ext cx="10515600" cy="4251960"/>
          </a:xfrm>
        </p:spPr>
        <p:txBody>
          <a:bodyPr>
            <a:normAutofit/>
          </a:bodyPr>
          <a:lstStyle/>
          <a:p>
            <a:r>
              <a:rPr lang="en-US" sz="2200" dirty="0" err="1"/>
              <a:t>Pizzas’r’us</a:t>
            </a:r>
            <a:endParaRPr lang="en-US" sz="2200" dirty="0"/>
          </a:p>
          <a:p>
            <a:pPr lvl="1"/>
            <a:r>
              <a:rPr lang="en-US" sz="1800" dirty="0"/>
              <a:t>Small, fast evolving company</a:t>
            </a:r>
          </a:p>
          <a:p>
            <a:pPr lvl="1"/>
            <a:r>
              <a:rPr lang="en-US" sz="1800" dirty="0"/>
              <a:t>Small development team</a:t>
            </a:r>
          </a:p>
          <a:p>
            <a:r>
              <a:rPr lang="en-US" sz="2200" dirty="0"/>
              <a:t>Alexandria – Lead Dev</a:t>
            </a:r>
          </a:p>
          <a:p>
            <a:pPr lvl="1"/>
            <a:r>
              <a:rPr lang="en-US" sz="1800" dirty="0"/>
              <a:t>Many changes requested from Business Units</a:t>
            </a:r>
          </a:p>
          <a:p>
            <a:pPr lvl="1"/>
            <a:r>
              <a:rPr lang="en-US" sz="1800" dirty="0"/>
              <a:t>Business Units trying to adapt to evolving business environment</a:t>
            </a:r>
          </a:p>
          <a:p>
            <a:pPr lvl="1"/>
            <a:r>
              <a:rPr lang="en-US" sz="1800" dirty="0"/>
              <a:t>The biggest part of the changes are business rule changes</a:t>
            </a:r>
          </a:p>
          <a:p>
            <a:pPr lvl="1"/>
            <a:r>
              <a:rPr lang="en-US" sz="1800" dirty="0"/>
              <a:t>Alexandria feels like the bottleneck</a:t>
            </a:r>
          </a:p>
        </p:txBody>
      </p:sp>
      <p:pic>
        <p:nvPicPr>
          <p:cNvPr id="4" name="Picture 3">
            <a:extLst>
              <a:ext uri="{FF2B5EF4-FFF2-40B4-BE49-F238E27FC236}">
                <a16:creationId xmlns:a16="http://schemas.microsoft.com/office/drawing/2014/main" id="{55518957-3B2E-C7D2-8B03-A119BCEDEF40}"/>
              </a:ext>
            </a:extLst>
          </p:cNvPr>
          <p:cNvPicPr>
            <a:picLocks noChangeAspect="1"/>
          </p:cNvPicPr>
          <p:nvPr/>
        </p:nvPicPr>
        <p:blipFill>
          <a:blip r:embed="rId3"/>
          <a:stretch>
            <a:fillRect/>
          </a:stretch>
        </p:blipFill>
        <p:spPr>
          <a:xfrm>
            <a:off x="8447999" y="3002936"/>
            <a:ext cx="2142761" cy="2884488"/>
          </a:xfrm>
          <a:prstGeom prst="rect">
            <a:avLst/>
          </a:prstGeom>
        </p:spPr>
      </p:pic>
    </p:spTree>
    <p:extLst>
      <p:ext uri="{BB962C8B-B14F-4D97-AF65-F5344CB8AC3E}">
        <p14:creationId xmlns:p14="http://schemas.microsoft.com/office/powerpoint/2010/main" val="9667111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6D1DC4CF-4AB5-0446-B26D-657B29F30197}"/>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E54B72FC-B4D7-7E3A-A879-719B2035137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8914C442-E974-988D-294E-92EA24E112D5}"/>
              </a:ext>
            </a:extLst>
          </p:cNvPr>
          <p:cNvSpPr>
            <a:spLocks noGrp="1"/>
          </p:cNvSpPr>
          <p:nvPr>
            <p:ph type="title"/>
          </p:nvPr>
        </p:nvSpPr>
        <p:spPr>
          <a:xfrm>
            <a:off x="838200" y="365125"/>
            <a:ext cx="10515600" cy="1325563"/>
          </a:xfrm>
        </p:spPr>
        <p:txBody>
          <a:bodyPr>
            <a:normAutofit/>
          </a:bodyPr>
          <a:lstStyle/>
          <a:p>
            <a:r>
              <a:rPr lang="en-US" sz="5400" dirty="0"/>
              <a:t>Business Logic vs Other logic</a:t>
            </a:r>
          </a:p>
        </p:txBody>
      </p:sp>
      <p:sp>
        <p:nvSpPr>
          <p:cNvPr id="10" name="sketch line">
            <a:extLst>
              <a:ext uri="{FF2B5EF4-FFF2-40B4-BE49-F238E27FC236}">
                <a16:creationId xmlns:a16="http://schemas.microsoft.com/office/drawing/2014/main" id="{D6B4D6EA-99E7-3C21-6C50-984A838BA47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036" y="1677373"/>
            <a:ext cx="10853928" cy="18288"/>
          </a:xfrm>
          <a:custGeom>
            <a:avLst/>
            <a:gdLst>
              <a:gd name="csX0" fmla="*/ 0 w 10853928"/>
              <a:gd name="csY0" fmla="*/ 0 h 18288"/>
              <a:gd name="csX1" fmla="*/ 461292 w 10853928"/>
              <a:gd name="csY1" fmla="*/ 0 h 18288"/>
              <a:gd name="csX2" fmla="*/ 1139662 w 10853928"/>
              <a:gd name="csY2" fmla="*/ 0 h 18288"/>
              <a:gd name="csX3" fmla="*/ 1926572 w 10853928"/>
              <a:gd name="csY3" fmla="*/ 0 h 18288"/>
              <a:gd name="csX4" fmla="*/ 2279325 w 10853928"/>
              <a:gd name="csY4" fmla="*/ 0 h 18288"/>
              <a:gd name="csX5" fmla="*/ 2632078 w 10853928"/>
              <a:gd name="csY5" fmla="*/ 0 h 18288"/>
              <a:gd name="csX6" fmla="*/ 3527527 w 10853928"/>
              <a:gd name="csY6" fmla="*/ 0 h 18288"/>
              <a:gd name="csX7" fmla="*/ 4205897 w 10853928"/>
              <a:gd name="csY7" fmla="*/ 0 h 18288"/>
              <a:gd name="csX8" fmla="*/ 4558650 w 10853928"/>
              <a:gd name="csY8" fmla="*/ 0 h 18288"/>
              <a:gd name="csX9" fmla="*/ 5237020 w 10853928"/>
              <a:gd name="csY9" fmla="*/ 0 h 18288"/>
              <a:gd name="csX10" fmla="*/ 6132469 w 10853928"/>
              <a:gd name="csY10" fmla="*/ 0 h 18288"/>
              <a:gd name="csX11" fmla="*/ 6702301 w 10853928"/>
              <a:gd name="csY11" fmla="*/ 0 h 18288"/>
              <a:gd name="csX12" fmla="*/ 7272132 w 10853928"/>
              <a:gd name="csY12" fmla="*/ 0 h 18288"/>
              <a:gd name="csX13" fmla="*/ 7950502 w 10853928"/>
              <a:gd name="csY13" fmla="*/ 0 h 18288"/>
              <a:gd name="csX14" fmla="*/ 8737412 w 10853928"/>
              <a:gd name="csY14" fmla="*/ 0 h 18288"/>
              <a:gd name="csX15" fmla="*/ 9524322 w 10853928"/>
              <a:gd name="csY15" fmla="*/ 0 h 18288"/>
              <a:gd name="csX16" fmla="*/ 10853928 w 10853928"/>
              <a:gd name="csY16" fmla="*/ 0 h 18288"/>
              <a:gd name="csX17" fmla="*/ 10853928 w 10853928"/>
              <a:gd name="csY17" fmla="*/ 18288 h 18288"/>
              <a:gd name="csX18" fmla="*/ 10392636 w 10853928"/>
              <a:gd name="csY18" fmla="*/ 18288 h 18288"/>
              <a:gd name="csX19" fmla="*/ 9497187 w 10853928"/>
              <a:gd name="csY19" fmla="*/ 18288 h 18288"/>
              <a:gd name="csX20" fmla="*/ 8818817 w 10853928"/>
              <a:gd name="csY20" fmla="*/ 18288 h 18288"/>
              <a:gd name="csX21" fmla="*/ 8466064 w 10853928"/>
              <a:gd name="csY21" fmla="*/ 18288 h 18288"/>
              <a:gd name="csX22" fmla="*/ 7787693 w 10853928"/>
              <a:gd name="csY22" fmla="*/ 18288 h 18288"/>
              <a:gd name="csX23" fmla="*/ 7217862 w 10853928"/>
              <a:gd name="csY23" fmla="*/ 18288 h 18288"/>
              <a:gd name="csX24" fmla="*/ 6648031 w 10853928"/>
              <a:gd name="csY24" fmla="*/ 18288 h 18288"/>
              <a:gd name="csX25" fmla="*/ 6078200 w 10853928"/>
              <a:gd name="csY25" fmla="*/ 18288 h 18288"/>
              <a:gd name="csX26" fmla="*/ 5508368 w 10853928"/>
              <a:gd name="csY26" fmla="*/ 18288 h 18288"/>
              <a:gd name="csX27" fmla="*/ 4721459 w 10853928"/>
              <a:gd name="csY27" fmla="*/ 18288 h 18288"/>
              <a:gd name="csX28" fmla="*/ 4043088 w 10853928"/>
              <a:gd name="csY28" fmla="*/ 18288 h 18288"/>
              <a:gd name="csX29" fmla="*/ 3690336 w 10853928"/>
              <a:gd name="csY29" fmla="*/ 18288 h 18288"/>
              <a:gd name="csX30" fmla="*/ 3120504 w 10853928"/>
              <a:gd name="csY30" fmla="*/ 18288 h 18288"/>
              <a:gd name="csX31" fmla="*/ 2333595 w 10853928"/>
              <a:gd name="csY31" fmla="*/ 18288 h 18288"/>
              <a:gd name="csX32" fmla="*/ 1872303 w 10853928"/>
              <a:gd name="csY32" fmla="*/ 18288 h 18288"/>
              <a:gd name="csX33" fmla="*/ 976854 w 10853928"/>
              <a:gd name="csY33" fmla="*/ 18288 h 18288"/>
              <a:gd name="csX34" fmla="*/ 0 w 10853928"/>
              <a:gd name="csY34" fmla="*/ 18288 h 18288"/>
              <a:gd name="csX35" fmla="*/ 0 w 10853928"/>
              <a:gd name="csY35"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Lst>
            <a:rect l="l" t="t" r="r" b="b"/>
            <a:pathLst>
              <a:path w="10853928" h="18288" fill="none" extrusionOk="0">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w="10853928" h="18288" stroke="0" extrusionOk="0">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7F01B539-6D2D-BD6C-11D8-913928F24928}"/>
              </a:ext>
            </a:extLst>
          </p:cNvPr>
          <p:cNvSpPr>
            <a:spLocks noGrp="1"/>
          </p:cNvSpPr>
          <p:nvPr>
            <p:ph idx="1"/>
          </p:nvPr>
        </p:nvSpPr>
        <p:spPr>
          <a:xfrm>
            <a:off x="838200" y="1929384"/>
            <a:ext cx="10515600" cy="4251960"/>
          </a:xfrm>
        </p:spPr>
        <p:txBody>
          <a:bodyPr>
            <a:normAutofit/>
          </a:bodyPr>
          <a:lstStyle/>
          <a:p>
            <a:r>
              <a:rPr lang="en-US" sz="1800" dirty="0"/>
              <a:t>Business logic is the logic that is unique to the business problem you are trying to solve. </a:t>
            </a:r>
          </a:p>
          <a:p>
            <a:r>
              <a:rPr lang="en-US" sz="1800" dirty="0"/>
              <a:t>It can be very unique</a:t>
            </a:r>
          </a:p>
          <a:p>
            <a:pPr lvl="1"/>
            <a:r>
              <a:rPr lang="en-US" sz="1400" dirty="0"/>
              <a:t>Examples</a:t>
            </a:r>
          </a:p>
          <a:p>
            <a:pPr lvl="2"/>
            <a:r>
              <a:rPr lang="en-US" sz="1000" dirty="0"/>
              <a:t>Logic to drop a message in a queue is common across industries</a:t>
            </a:r>
          </a:p>
          <a:p>
            <a:pPr lvl="2"/>
            <a:r>
              <a:rPr lang="en-US" sz="1000" dirty="0"/>
              <a:t>Logic that specifies that customers with certain amount of purchases get a discount is very </a:t>
            </a:r>
            <a:r>
              <a:rPr lang="en-US" sz="1000" dirty="0" err="1"/>
              <a:t>speciifc</a:t>
            </a:r>
            <a:r>
              <a:rPr lang="en-US" sz="1000" dirty="0"/>
              <a:t>.</a:t>
            </a:r>
          </a:p>
          <a:p>
            <a:r>
              <a:rPr lang="en-US" sz="1800" dirty="0"/>
              <a:t>It can be executed in a vacuum with no direct dependencies on external resources</a:t>
            </a:r>
          </a:p>
        </p:txBody>
      </p:sp>
    </p:spTree>
    <p:extLst>
      <p:ext uri="{BB962C8B-B14F-4D97-AF65-F5344CB8AC3E}">
        <p14:creationId xmlns:p14="http://schemas.microsoft.com/office/powerpoint/2010/main" val="368179569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F06B4CC0-BDED-B9D3-A847-01342D2310A1}"/>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614BB239-187E-F729-8AD4-1DA69273A2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35B184F-30FB-AA25-952A-B459FE43D2B5}"/>
              </a:ext>
            </a:extLst>
          </p:cNvPr>
          <p:cNvSpPr>
            <a:spLocks noGrp="1"/>
          </p:cNvSpPr>
          <p:nvPr>
            <p:ph type="title"/>
          </p:nvPr>
        </p:nvSpPr>
        <p:spPr>
          <a:xfrm>
            <a:off x="838200" y="365125"/>
            <a:ext cx="10515600" cy="1325563"/>
          </a:xfrm>
        </p:spPr>
        <p:txBody>
          <a:bodyPr>
            <a:normAutofit/>
          </a:bodyPr>
          <a:lstStyle/>
          <a:p>
            <a:r>
              <a:rPr lang="en-US" sz="5400" dirty="0"/>
              <a:t>Solution Research</a:t>
            </a:r>
          </a:p>
        </p:txBody>
      </p:sp>
      <p:sp>
        <p:nvSpPr>
          <p:cNvPr id="10" name="sketch line">
            <a:extLst>
              <a:ext uri="{FF2B5EF4-FFF2-40B4-BE49-F238E27FC236}">
                <a16:creationId xmlns:a16="http://schemas.microsoft.com/office/drawing/2014/main" id="{99F32EAE-1B3D-C6E2-71B2-2839B1058FA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036" y="1677373"/>
            <a:ext cx="10853928" cy="18288"/>
          </a:xfrm>
          <a:custGeom>
            <a:avLst/>
            <a:gdLst>
              <a:gd name="csX0" fmla="*/ 0 w 10853928"/>
              <a:gd name="csY0" fmla="*/ 0 h 18288"/>
              <a:gd name="csX1" fmla="*/ 461292 w 10853928"/>
              <a:gd name="csY1" fmla="*/ 0 h 18288"/>
              <a:gd name="csX2" fmla="*/ 1139662 w 10853928"/>
              <a:gd name="csY2" fmla="*/ 0 h 18288"/>
              <a:gd name="csX3" fmla="*/ 1926572 w 10853928"/>
              <a:gd name="csY3" fmla="*/ 0 h 18288"/>
              <a:gd name="csX4" fmla="*/ 2279325 w 10853928"/>
              <a:gd name="csY4" fmla="*/ 0 h 18288"/>
              <a:gd name="csX5" fmla="*/ 2632078 w 10853928"/>
              <a:gd name="csY5" fmla="*/ 0 h 18288"/>
              <a:gd name="csX6" fmla="*/ 3527527 w 10853928"/>
              <a:gd name="csY6" fmla="*/ 0 h 18288"/>
              <a:gd name="csX7" fmla="*/ 4205897 w 10853928"/>
              <a:gd name="csY7" fmla="*/ 0 h 18288"/>
              <a:gd name="csX8" fmla="*/ 4558650 w 10853928"/>
              <a:gd name="csY8" fmla="*/ 0 h 18288"/>
              <a:gd name="csX9" fmla="*/ 5237020 w 10853928"/>
              <a:gd name="csY9" fmla="*/ 0 h 18288"/>
              <a:gd name="csX10" fmla="*/ 6132469 w 10853928"/>
              <a:gd name="csY10" fmla="*/ 0 h 18288"/>
              <a:gd name="csX11" fmla="*/ 6702301 w 10853928"/>
              <a:gd name="csY11" fmla="*/ 0 h 18288"/>
              <a:gd name="csX12" fmla="*/ 7272132 w 10853928"/>
              <a:gd name="csY12" fmla="*/ 0 h 18288"/>
              <a:gd name="csX13" fmla="*/ 7950502 w 10853928"/>
              <a:gd name="csY13" fmla="*/ 0 h 18288"/>
              <a:gd name="csX14" fmla="*/ 8737412 w 10853928"/>
              <a:gd name="csY14" fmla="*/ 0 h 18288"/>
              <a:gd name="csX15" fmla="*/ 9524322 w 10853928"/>
              <a:gd name="csY15" fmla="*/ 0 h 18288"/>
              <a:gd name="csX16" fmla="*/ 10853928 w 10853928"/>
              <a:gd name="csY16" fmla="*/ 0 h 18288"/>
              <a:gd name="csX17" fmla="*/ 10853928 w 10853928"/>
              <a:gd name="csY17" fmla="*/ 18288 h 18288"/>
              <a:gd name="csX18" fmla="*/ 10392636 w 10853928"/>
              <a:gd name="csY18" fmla="*/ 18288 h 18288"/>
              <a:gd name="csX19" fmla="*/ 9497187 w 10853928"/>
              <a:gd name="csY19" fmla="*/ 18288 h 18288"/>
              <a:gd name="csX20" fmla="*/ 8818817 w 10853928"/>
              <a:gd name="csY20" fmla="*/ 18288 h 18288"/>
              <a:gd name="csX21" fmla="*/ 8466064 w 10853928"/>
              <a:gd name="csY21" fmla="*/ 18288 h 18288"/>
              <a:gd name="csX22" fmla="*/ 7787693 w 10853928"/>
              <a:gd name="csY22" fmla="*/ 18288 h 18288"/>
              <a:gd name="csX23" fmla="*/ 7217862 w 10853928"/>
              <a:gd name="csY23" fmla="*/ 18288 h 18288"/>
              <a:gd name="csX24" fmla="*/ 6648031 w 10853928"/>
              <a:gd name="csY24" fmla="*/ 18288 h 18288"/>
              <a:gd name="csX25" fmla="*/ 6078200 w 10853928"/>
              <a:gd name="csY25" fmla="*/ 18288 h 18288"/>
              <a:gd name="csX26" fmla="*/ 5508368 w 10853928"/>
              <a:gd name="csY26" fmla="*/ 18288 h 18288"/>
              <a:gd name="csX27" fmla="*/ 4721459 w 10853928"/>
              <a:gd name="csY27" fmla="*/ 18288 h 18288"/>
              <a:gd name="csX28" fmla="*/ 4043088 w 10853928"/>
              <a:gd name="csY28" fmla="*/ 18288 h 18288"/>
              <a:gd name="csX29" fmla="*/ 3690336 w 10853928"/>
              <a:gd name="csY29" fmla="*/ 18288 h 18288"/>
              <a:gd name="csX30" fmla="*/ 3120504 w 10853928"/>
              <a:gd name="csY30" fmla="*/ 18288 h 18288"/>
              <a:gd name="csX31" fmla="*/ 2333595 w 10853928"/>
              <a:gd name="csY31" fmla="*/ 18288 h 18288"/>
              <a:gd name="csX32" fmla="*/ 1872303 w 10853928"/>
              <a:gd name="csY32" fmla="*/ 18288 h 18288"/>
              <a:gd name="csX33" fmla="*/ 976854 w 10853928"/>
              <a:gd name="csY33" fmla="*/ 18288 h 18288"/>
              <a:gd name="csX34" fmla="*/ 0 w 10853928"/>
              <a:gd name="csY34" fmla="*/ 18288 h 18288"/>
              <a:gd name="csX35" fmla="*/ 0 w 10853928"/>
              <a:gd name="csY35"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Lst>
            <a:rect l="l" t="t" r="r" b="b"/>
            <a:pathLst>
              <a:path w="10853928" h="18288" fill="none" extrusionOk="0">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w="10853928" h="18288" stroke="0" extrusionOk="0">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AAE76935-EB5F-674B-F17B-F1D882ED1694}"/>
              </a:ext>
            </a:extLst>
          </p:cNvPr>
          <p:cNvSpPr>
            <a:spLocks noGrp="1"/>
          </p:cNvSpPr>
          <p:nvPr>
            <p:ph idx="1"/>
          </p:nvPr>
        </p:nvSpPr>
        <p:spPr>
          <a:xfrm>
            <a:off x="838200" y="1929384"/>
            <a:ext cx="10515600" cy="4251960"/>
          </a:xfrm>
        </p:spPr>
        <p:txBody>
          <a:bodyPr>
            <a:normAutofit/>
          </a:bodyPr>
          <a:lstStyle/>
          <a:p>
            <a:r>
              <a:rPr lang="en-US" sz="2400" dirty="0"/>
              <a:t>Research on what tools the Business uses day to day</a:t>
            </a:r>
          </a:p>
          <a:p>
            <a:r>
              <a:rPr lang="en-US" sz="2200" dirty="0"/>
              <a:t>Business users familiar with Excel</a:t>
            </a:r>
          </a:p>
          <a:p>
            <a:r>
              <a:rPr lang="en-US" sz="2200" dirty="0"/>
              <a:t>A larger IT team that are not Pro </a:t>
            </a:r>
            <a:r>
              <a:rPr lang="en-US" sz="2200" dirty="0" err="1"/>
              <a:t>devs</a:t>
            </a:r>
            <a:r>
              <a:rPr lang="en-US" sz="2200" dirty="0"/>
              <a:t>, but work in </a:t>
            </a:r>
            <a:r>
              <a:rPr lang="en-US" sz="2200" dirty="0" err="1"/>
              <a:t>PowerPlatform</a:t>
            </a:r>
            <a:endParaRPr lang="en-US" sz="2200" dirty="0"/>
          </a:p>
          <a:p>
            <a:pPr lvl="1"/>
            <a:r>
              <a:rPr lang="en-US" sz="1800" dirty="0"/>
              <a:t>PowerApps</a:t>
            </a:r>
          </a:p>
          <a:p>
            <a:pPr lvl="1"/>
            <a:r>
              <a:rPr lang="en-US" sz="1800" dirty="0" err="1"/>
              <a:t>PowerAutomate</a:t>
            </a:r>
            <a:endParaRPr lang="en-US" sz="1800" dirty="0"/>
          </a:p>
          <a:p>
            <a:endParaRPr lang="en-US" sz="2200" dirty="0"/>
          </a:p>
          <a:p>
            <a:pPr lvl="1"/>
            <a:endParaRPr lang="en-US" sz="1800" dirty="0"/>
          </a:p>
        </p:txBody>
      </p:sp>
    </p:spTree>
    <p:extLst>
      <p:ext uri="{BB962C8B-B14F-4D97-AF65-F5344CB8AC3E}">
        <p14:creationId xmlns:p14="http://schemas.microsoft.com/office/powerpoint/2010/main" val="238131814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FDA839D3-D7AD-6D84-F91D-B0A19AD55E3A}"/>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43EED5B1-25F4-982F-C9B6-62DDF6DAE4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DD542A7B-24C6-4CB5-EA31-789D351C2F94}"/>
              </a:ext>
            </a:extLst>
          </p:cNvPr>
          <p:cNvSpPr>
            <a:spLocks noGrp="1"/>
          </p:cNvSpPr>
          <p:nvPr>
            <p:ph type="title"/>
          </p:nvPr>
        </p:nvSpPr>
        <p:spPr>
          <a:xfrm>
            <a:off x="838200" y="365125"/>
            <a:ext cx="10515600" cy="1325563"/>
          </a:xfrm>
        </p:spPr>
        <p:txBody>
          <a:bodyPr>
            <a:normAutofit/>
          </a:bodyPr>
          <a:lstStyle/>
          <a:p>
            <a:r>
              <a:rPr lang="en-US" sz="5400" dirty="0"/>
              <a:t>Solution Space</a:t>
            </a:r>
          </a:p>
        </p:txBody>
      </p:sp>
      <p:sp>
        <p:nvSpPr>
          <p:cNvPr id="10" name="sketch line">
            <a:extLst>
              <a:ext uri="{FF2B5EF4-FFF2-40B4-BE49-F238E27FC236}">
                <a16:creationId xmlns:a16="http://schemas.microsoft.com/office/drawing/2014/main" id="{3B4940A2-BF2A-4891-5652-9C775294A4E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036" y="1677373"/>
            <a:ext cx="10853928" cy="18288"/>
          </a:xfrm>
          <a:custGeom>
            <a:avLst/>
            <a:gdLst>
              <a:gd name="csX0" fmla="*/ 0 w 10853928"/>
              <a:gd name="csY0" fmla="*/ 0 h 18288"/>
              <a:gd name="csX1" fmla="*/ 461292 w 10853928"/>
              <a:gd name="csY1" fmla="*/ 0 h 18288"/>
              <a:gd name="csX2" fmla="*/ 1139662 w 10853928"/>
              <a:gd name="csY2" fmla="*/ 0 h 18288"/>
              <a:gd name="csX3" fmla="*/ 1926572 w 10853928"/>
              <a:gd name="csY3" fmla="*/ 0 h 18288"/>
              <a:gd name="csX4" fmla="*/ 2279325 w 10853928"/>
              <a:gd name="csY4" fmla="*/ 0 h 18288"/>
              <a:gd name="csX5" fmla="*/ 2632078 w 10853928"/>
              <a:gd name="csY5" fmla="*/ 0 h 18288"/>
              <a:gd name="csX6" fmla="*/ 3527527 w 10853928"/>
              <a:gd name="csY6" fmla="*/ 0 h 18288"/>
              <a:gd name="csX7" fmla="*/ 4205897 w 10853928"/>
              <a:gd name="csY7" fmla="*/ 0 h 18288"/>
              <a:gd name="csX8" fmla="*/ 4558650 w 10853928"/>
              <a:gd name="csY8" fmla="*/ 0 h 18288"/>
              <a:gd name="csX9" fmla="*/ 5237020 w 10853928"/>
              <a:gd name="csY9" fmla="*/ 0 h 18288"/>
              <a:gd name="csX10" fmla="*/ 6132469 w 10853928"/>
              <a:gd name="csY10" fmla="*/ 0 h 18288"/>
              <a:gd name="csX11" fmla="*/ 6702301 w 10853928"/>
              <a:gd name="csY11" fmla="*/ 0 h 18288"/>
              <a:gd name="csX12" fmla="*/ 7272132 w 10853928"/>
              <a:gd name="csY12" fmla="*/ 0 h 18288"/>
              <a:gd name="csX13" fmla="*/ 7950502 w 10853928"/>
              <a:gd name="csY13" fmla="*/ 0 h 18288"/>
              <a:gd name="csX14" fmla="*/ 8737412 w 10853928"/>
              <a:gd name="csY14" fmla="*/ 0 h 18288"/>
              <a:gd name="csX15" fmla="*/ 9524322 w 10853928"/>
              <a:gd name="csY15" fmla="*/ 0 h 18288"/>
              <a:gd name="csX16" fmla="*/ 10853928 w 10853928"/>
              <a:gd name="csY16" fmla="*/ 0 h 18288"/>
              <a:gd name="csX17" fmla="*/ 10853928 w 10853928"/>
              <a:gd name="csY17" fmla="*/ 18288 h 18288"/>
              <a:gd name="csX18" fmla="*/ 10392636 w 10853928"/>
              <a:gd name="csY18" fmla="*/ 18288 h 18288"/>
              <a:gd name="csX19" fmla="*/ 9497187 w 10853928"/>
              <a:gd name="csY19" fmla="*/ 18288 h 18288"/>
              <a:gd name="csX20" fmla="*/ 8818817 w 10853928"/>
              <a:gd name="csY20" fmla="*/ 18288 h 18288"/>
              <a:gd name="csX21" fmla="*/ 8466064 w 10853928"/>
              <a:gd name="csY21" fmla="*/ 18288 h 18288"/>
              <a:gd name="csX22" fmla="*/ 7787693 w 10853928"/>
              <a:gd name="csY22" fmla="*/ 18288 h 18288"/>
              <a:gd name="csX23" fmla="*/ 7217862 w 10853928"/>
              <a:gd name="csY23" fmla="*/ 18288 h 18288"/>
              <a:gd name="csX24" fmla="*/ 6648031 w 10853928"/>
              <a:gd name="csY24" fmla="*/ 18288 h 18288"/>
              <a:gd name="csX25" fmla="*/ 6078200 w 10853928"/>
              <a:gd name="csY25" fmla="*/ 18288 h 18288"/>
              <a:gd name="csX26" fmla="*/ 5508368 w 10853928"/>
              <a:gd name="csY26" fmla="*/ 18288 h 18288"/>
              <a:gd name="csX27" fmla="*/ 4721459 w 10853928"/>
              <a:gd name="csY27" fmla="*/ 18288 h 18288"/>
              <a:gd name="csX28" fmla="*/ 4043088 w 10853928"/>
              <a:gd name="csY28" fmla="*/ 18288 h 18288"/>
              <a:gd name="csX29" fmla="*/ 3690336 w 10853928"/>
              <a:gd name="csY29" fmla="*/ 18288 h 18288"/>
              <a:gd name="csX30" fmla="*/ 3120504 w 10853928"/>
              <a:gd name="csY30" fmla="*/ 18288 h 18288"/>
              <a:gd name="csX31" fmla="*/ 2333595 w 10853928"/>
              <a:gd name="csY31" fmla="*/ 18288 h 18288"/>
              <a:gd name="csX32" fmla="*/ 1872303 w 10853928"/>
              <a:gd name="csY32" fmla="*/ 18288 h 18288"/>
              <a:gd name="csX33" fmla="*/ 976854 w 10853928"/>
              <a:gd name="csY33" fmla="*/ 18288 h 18288"/>
              <a:gd name="csX34" fmla="*/ 0 w 10853928"/>
              <a:gd name="csY34" fmla="*/ 18288 h 18288"/>
              <a:gd name="csX35" fmla="*/ 0 w 10853928"/>
              <a:gd name="csY35"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Lst>
            <a:rect l="l" t="t" r="r" b="b"/>
            <a:pathLst>
              <a:path w="10853928" h="18288" fill="none" extrusionOk="0">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w="10853928" h="18288" stroke="0" extrusionOk="0">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D51548BD-3B41-D896-F2A3-6EC921AE9CD6}"/>
              </a:ext>
            </a:extLst>
          </p:cNvPr>
          <p:cNvSpPr>
            <a:spLocks noGrp="1"/>
          </p:cNvSpPr>
          <p:nvPr>
            <p:ph idx="1"/>
          </p:nvPr>
        </p:nvSpPr>
        <p:spPr>
          <a:xfrm>
            <a:off x="838200" y="1929384"/>
            <a:ext cx="10515600" cy="4251960"/>
          </a:xfrm>
        </p:spPr>
        <p:txBody>
          <a:bodyPr>
            <a:normAutofit/>
          </a:bodyPr>
          <a:lstStyle/>
          <a:p>
            <a:r>
              <a:rPr lang="en-US" sz="2400" dirty="0"/>
              <a:t>Business rules engine frameworks</a:t>
            </a:r>
          </a:p>
          <a:p>
            <a:pPr lvl="1"/>
            <a:r>
              <a:rPr lang="en-US" sz="1400" dirty="0"/>
              <a:t>Most are Java based, not a good fit for team</a:t>
            </a:r>
          </a:p>
          <a:p>
            <a:pPr lvl="1"/>
            <a:r>
              <a:rPr lang="en-US" sz="1400" dirty="0"/>
              <a:t>Another paradigm for business users to learn</a:t>
            </a:r>
          </a:p>
          <a:p>
            <a:r>
              <a:rPr lang="en-US" sz="1800" dirty="0"/>
              <a:t>Microsoft’s Rules Engine</a:t>
            </a:r>
          </a:p>
          <a:p>
            <a:pPr lvl="1"/>
            <a:r>
              <a:rPr lang="en-US" sz="1400" dirty="0">
                <a:hlinkClick r:id="rId3"/>
              </a:rPr>
              <a:t>https://github.com/microsoft/RulesEngine</a:t>
            </a:r>
            <a:endParaRPr lang="en-US" sz="1400" dirty="0"/>
          </a:p>
          <a:p>
            <a:pPr lvl="1"/>
            <a:r>
              <a:rPr lang="en-US" sz="1400" dirty="0"/>
              <a:t>Unfamiliar syntax for existing org</a:t>
            </a:r>
          </a:p>
          <a:p>
            <a:r>
              <a:rPr lang="en-US" sz="1800" dirty="0"/>
              <a:t>Graphical DSL</a:t>
            </a:r>
          </a:p>
          <a:p>
            <a:pPr lvl="1"/>
            <a:r>
              <a:rPr lang="en-US" sz="1400" dirty="0"/>
              <a:t>Classic Windows Workflows</a:t>
            </a:r>
          </a:p>
          <a:p>
            <a:r>
              <a:rPr lang="en-US" sz="1800" dirty="0" err="1"/>
              <a:t>PowerFX</a:t>
            </a:r>
            <a:endParaRPr lang="en-US" sz="1800" dirty="0"/>
          </a:p>
          <a:p>
            <a:pPr lvl="1"/>
            <a:endParaRPr lang="en-US" sz="1000" dirty="0"/>
          </a:p>
          <a:p>
            <a:endParaRPr lang="en-US" sz="1800" dirty="0"/>
          </a:p>
          <a:p>
            <a:endParaRPr lang="en-US" sz="2200" dirty="0"/>
          </a:p>
          <a:p>
            <a:pPr lvl="1"/>
            <a:endParaRPr lang="en-US" sz="1800" dirty="0"/>
          </a:p>
        </p:txBody>
      </p:sp>
    </p:spTree>
    <p:extLst>
      <p:ext uri="{BB962C8B-B14F-4D97-AF65-F5344CB8AC3E}">
        <p14:creationId xmlns:p14="http://schemas.microsoft.com/office/powerpoint/2010/main" val="156022297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59AE677F-C6E5-FFA4-6478-5D58E56AA595}"/>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907EF6B7-1338-4443-8C46-6A318D952D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Shape 9">
            <a:extLst>
              <a:ext uri="{FF2B5EF4-FFF2-40B4-BE49-F238E27FC236}">
                <a16:creationId xmlns:a16="http://schemas.microsoft.com/office/drawing/2014/main" id="{DAAE4CDD-124C-4DCF-9584-B6033B545D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4167271" cy="6858000"/>
          </a:xfrm>
          <a:custGeom>
            <a:avLst/>
            <a:gdLst>
              <a:gd name="connsiteX0" fmla="*/ 0 w 4167271"/>
              <a:gd name="connsiteY0" fmla="*/ 0 h 6858000"/>
              <a:gd name="connsiteX1" fmla="*/ 2259550 w 4167271"/>
              <a:gd name="connsiteY1" fmla="*/ 0 h 6858000"/>
              <a:gd name="connsiteX2" fmla="*/ 2387803 w 4167271"/>
              <a:gd name="connsiteY2" fmla="*/ 82222 h 6858000"/>
              <a:gd name="connsiteX3" fmla="*/ 4167271 w 4167271"/>
              <a:gd name="connsiteY3" fmla="*/ 3429000 h 6858000"/>
              <a:gd name="connsiteX4" fmla="*/ 2387803 w 4167271"/>
              <a:gd name="connsiteY4" fmla="*/ 6775779 h 6858000"/>
              <a:gd name="connsiteX5" fmla="*/ 2259550 w 4167271"/>
              <a:gd name="connsiteY5" fmla="*/ 6858000 h 6858000"/>
              <a:gd name="connsiteX6" fmla="*/ 0 w 4167271"/>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67271" h="6858000">
                <a:moveTo>
                  <a:pt x="0" y="0"/>
                </a:moveTo>
                <a:lnTo>
                  <a:pt x="2259550" y="0"/>
                </a:lnTo>
                <a:lnTo>
                  <a:pt x="2387803" y="82222"/>
                </a:lnTo>
                <a:cubicBezTo>
                  <a:pt x="3461407" y="807534"/>
                  <a:pt x="4167271" y="2035835"/>
                  <a:pt x="4167271" y="3429000"/>
                </a:cubicBezTo>
                <a:cubicBezTo>
                  <a:pt x="4167271" y="4822165"/>
                  <a:pt x="3461407" y="6050467"/>
                  <a:pt x="2387803" y="6775779"/>
                </a:cubicBezTo>
                <a:lnTo>
                  <a:pt x="2259550" y="6858000"/>
                </a:lnTo>
                <a:lnTo>
                  <a:pt x="0" y="685800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1F6F1046-F7CA-D566-9E0D-D15AB3B8D754}"/>
              </a:ext>
            </a:extLst>
          </p:cNvPr>
          <p:cNvSpPr>
            <a:spLocks noGrp="1"/>
          </p:cNvSpPr>
          <p:nvPr>
            <p:ph type="title"/>
          </p:nvPr>
        </p:nvSpPr>
        <p:spPr>
          <a:xfrm>
            <a:off x="686834" y="1153572"/>
            <a:ext cx="3200400" cy="4461163"/>
          </a:xfrm>
        </p:spPr>
        <p:txBody>
          <a:bodyPr>
            <a:normAutofit/>
          </a:bodyPr>
          <a:lstStyle/>
          <a:p>
            <a:r>
              <a:rPr lang="en-US">
                <a:solidFill>
                  <a:srgbClr val="FFFFFF"/>
                </a:solidFill>
              </a:rPr>
              <a:t>Intro to PowerFX</a:t>
            </a:r>
          </a:p>
        </p:txBody>
      </p:sp>
      <p:sp>
        <p:nvSpPr>
          <p:cNvPr id="12" name="Arc 11">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7550402" y="2455479"/>
            <a:ext cx="4083433"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3" name="Content Placeholder 2">
            <a:extLst>
              <a:ext uri="{FF2B5EF4-FFF2-40B4-BE49-F238E27FC236}">
                <a16:creationId xmlns:a16="http://schemas.microsoft.com/office/drawing/2014/main" id="{8B69A762-FEC8-E2E1-6828-B3877AE8878A}"/>
              </a:ext>
            </a:extLst>
          </p:cNvPr>
          <p:cNvSpPr>
            <a:spLocks noGrp="1"/>
          </p:cNvSpPr>
          <p:nvPr>
            <p:ph idx="1"/>
          </p:nvPr>
        </p:nvSpPr>
        <p:spPr>
          <a:xfrm>
            <a:off x="4447308" y="591344"/>
            <a:ext cx="6906491" cy="5585619"/>
          </a:xfrm>
        </p:spPr>
        <p:txBody>
          <a:bodyPr anchor="ctr">
            <a:normAutofit/>
          </a:bodyPr>
          <a:lstStyle/>
          <a:p>
            <a:r>
              <a:rPr lang="en-US"/>
              <a:t>Business user friendly</a:t>
            </a:r>
          </a:p>
          <a:p>
            <a:r>
              <a:rPr lang="en-US"/>
              <a:t>Open sourced by Microsoft</a:t>
            </a:r>
          </a:p>
          <a:p>
            <a:r>
              <a:rPr lang="en-US"/>
              <a:t>Similar to Excel formulas</a:t>
            </a:r>
          </a:p>
          <a:p>
            <a:r>
              <a:rPr lang="en-US"/>
              <a:t>Use in many parts of the Power Platform</a:t>
            </a:r>
          </a:p>
          <a:p>
            <a:pPr lvl="1"/>
            <a:r>
              <a:rPr lang="en-US"/>
              <a:t>Many Experts, Tutorials, Articles, etc</a:t>
            </a:r>
          </a:p>
        </p:txBody>
      </p:sp>
    </p:spTree>
    <p:extLst>
      <p:ext uri="{BB962C8B-B14F-4D97-AF65-F5344CB8AC3E}">
        <p14:creationId xmlns:p14="http://schemas.microsoft.com/office/powerpoint/2010/main" val="272640521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47C3B51B-CD1E-84E5-E7B2-ED12B12BB2EC}"/>
              </a:ext>
            </a:extLst>
          </p:cNvPr>
          <p:cNvSpPr>
            <a:spLocks noGrp="1"/>
          </p:cNvSpPr>
          <p:nvPr>
            <p:ph type="ctrTitle"/>
          </p:nvPr>
        </p:nvSpPr>
        <p:spPr/>
        <p:txBody>
          <a:bodyPr/>
          <a:lstStyle/>
          <a:p>
            <a:r>
              <a:rPr lang="en-US" dirty="0"/>
              <a:t>Demo</a:t>
            </a:r>
          </a:p>
        </p:txBody>
      </p:sp>
      <p:sp>
        <p:nvSpPr>
          <p:cNvPr id="5" name="Subtitle 4">
            <a:extLst>
              <a:ext uri="{FF2B5EF4-FFF2-40B4-BE49-F238E27FC236}">
                <a16:creationId xmlns:a16="http://schemas.microsoft.com/office/drawing/2014/main" id="{C3E3E2C1-3777-0AA9-FFD7-C0605B1B0494}"/>
              </a:ext>
            </a:extLst>
          </p:cNvPr>
          <p:cNvSpPr>
            <a:spLocks noGrp="1"/>
          </p:cNvSpPr>
          <p:nvPr>
            <p:ph type="subTitle" idx="1"/>
          </p:nvPr>
        </p:nvSpPr>
        <p:spPr/>
        <p:txBody>
          <a:bodyPr/>
          <a:lstStyle/>
          <a:p>
            <a:endParaRPr lang="en-US"/>
          </a:p>
        </p:txBody>
      </p:sp>
    </p:spTree>
    <p:extLst>
      <p:ext uri="{BB962C8B-B14F-4D97-AF65-F5344CB8AC3E}">
        <p14:creationId xmlns:p14="http://schemas.microsoft.com/office/powerpoint/2010/main" val="225352845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9" name="Rectangle 18">
            <a:extLst>
              <a:ext uri="{FF2B5EF4-FFF2-40B4-BE49-F238E27FC236}">
                <a16:creationId xmlns:a16="http://schemas.microsoft.com/office/drawing/2014/main" id="{100EDD19-6802-4EC3-95CE-CFFAB042CF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ED378837-F088-4F73-261A-E994B5D75E04}"/>
              </a:ext>
            </a:extLst>
          </p:cNvPr>
          <p:cNvSpPr>
            <a:spLocks noGrp="1"/>
          </p:cNvSpPr>
          <p:nvPr>
            <p:ph type="title"/>
          </p:nvPr>
        </p:nvSpPr>
        <p:spPr>
          <a:xfrm>
            <a:off x="838200" y="365125"/>
            <a:ext cx="10515600" cy="1325563"/>
          </a:xfrm>
        </p:spPr>
        <p:txBody>
          <a:bodyPr>
            <a:normAutofit/>
          </a:bodyPr>
          <a:lstStyle/>
          <a:p>
            <a:r>
              <a:rPr lang="en-US" sz="4200"/>
              <a:t>Why we should consider using PowerFX from our .NET apps</a:t>
            </a:r>
          </a:p>
        </p:txBody>
      </p:sp>
      <p:sp>
        <p:nvSpPr>
          <p:cNvPr id="21" name="sketch line">
            <a:extLst>
              <a:ext uri="{FF2B5EF4-FFF2-40B4-BE49-F238E27FC236}">
                <a16:creationId xmlns:a16="http://schemas.microsoft.com/office/drawing/2014/main" id="{DB17E863-922E-4C26-BD64-E8FD41D2866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036" y="1677373"/>
            <a:ext cx="10853928" cy="18288"/>
          </a:xfrm>
          <a:custGeom>
            <a:avLst/>
            <a:gdLst>
              <a:gd name="csX0" fmla="*/ 0 w 10853928"/>
              <a:gd name="csY0" fmla="*/ 0 h 18288"/>
              <a:gd name="csX1" fmla="*/ 461292 w 10853928"/>
              <a:gd name="csY1" fmla="*/ 0 h 18288"/>
              <a:gd name="csX2" fmla="*/ 1139662 w 10853928"/>
              <a:gd name="csY2" fmla="*/ 0 h 18288"/>
              <a:gd name="csX3" fmla="*/ 1926572 w 10853928"/>
              <a:gd name="csY3" fmla="*/ 0 h 18288"/>
              <a:gd name="csX4" fmla="*/ 2279325 w 10853928"/>
              <a:gd name="csY4" fmla="*/ 0 h 18288"/>
              <a:gd name="csX5" fmla="*/ 2632078 w 10853928"/>
              <a:gd name="csY5" fmla="*/ 0 h 18288"/>
              <a:gd name="csX6" fmla="*/ 3527527 w 10853928"/>
              <a:gd name="csY6" fmla="*/ 0 h 18288"/>
              <a:gd name="csX7" fmla="*/ 4205897 w 10853928"/>
              <a:gd name="csY7" fmla="*/ 0 h 18288"/>
              <a:gd name="csX8" fmla="*/ 4558650 w 10853928"/>
              <a:gd name="csY8" fmla="*/ 0 h 18288"/>
              <a:gd name="csX9" fmla="*/ 5237020 w 10853928"/>
              <a:gd name="csY9" fmla="*/ 0 h 18288"/>
              <a:gd name="csX10" fmla="*/ 6132469 w 10853928"/>
              <a:gd name="csY10" fmla="*/ 0 h 18288"/>
              <a:gd name="csX11" fmla="*/ 6702301 w 10853928"/>
              <a:gd name="csY11" fmla="*/ 0 h 18288"/>
              <a:gd name="csX12" fmla="*/ 7272132 w 10853928"/>
              <a:gd name="csY12" fmla="*/ 0 h 18288"/>
              <a:gd name="csX13" fmla="*/ 7950502 w 10853928"/>
              <a:gd name="csY13" fmla="*/ 0 h 18288"/>
              <a:gd name="csX14" fmla="*/ 8737412 w 10853928"/>
              <a:gd name="csY14" fmla="*/ 0 h 18288"/>
              <a:gd name="csX15" fmla="*/ 9524322 w 10853928"/>
              <a:gd name="csY15" fmla="*/ 0 h 18288"/>
              <a:gd name="csX16" fmla="*/ 10853928 w 10853928"/>
              <a:gd name="csY16" fmla="*/ 0 h 18288"/>
              <a:gd name="csX17" fmla="*/ 10853928 w 10853928"/>
              <a:gd name="csY17" fmla="*/ 18288 h 18288"/>
              <a:gd name="csX18" fmla="*/ 10392636 w 10853928"/>
              <a:gd name="csY18" fmla="*/ 18288 h 18288"/>
              <a:gd name="csX19" fmla="*/ 9497187 w 10853928"/>
              <a:gd name="csY19" fmla="*/ 18288 h 18288"/>
              <a:gd name="csX20" fmla="*/ 8818817 w 10853928"/>
              <a:gd name="csY20" fmla="*/ 18288 h 18288"/>
              <a:gd name="csX21" fmla="*/ 8466064 w 10853928"/>
              <a:gd name="csY21" fmla="*/ 18288 h 18288"/>
              <a:gd name="csX22" fmla="*/ 7787693 w 10853928"/>
              <a:gd name="csY22" fmla="*/ 18288 h 18288"/>
              <a:gd name="csX23" fmla="*/ 7217862 w 10853928"/>
              <a:gd name="csY23" fmla="*/ 18288 h 18288"/>
              <a:gd name="csX24" fmla="*/ 6648031 w 10853928"/>
              <a:gd name="csY24" fmla="*/ 18288 h 18288"/>
              <a:gd name="csX25" fmla="*/ 6078200 w 10853928"/>
              <a:gd name="csY25" fmla="*/ 18288 h 18288"/>
              <a:gd name="csX26" fmla="*/ 5508368 w 10853928"/>
              <a:gd name="csY26" fmla="*/ 18288 h 18288"/>
              <a:gd name="csX27" fmla="*/ 4721459 w 10853928"/>
              <a:gd name="csY27" fmla="*/ 18288 h 18288"/>
              <a:gd name="csX28" fmla="*/ 4043088 w 10853928"/>
              <a:gd name="csY28" fmla="*/ 18288 h 18288"/>
              <a:gd name="csX29" fmla="*/ 3690336 w 10853928"/>
              <a:gd name="csY29" fmla="*/ 18288 h 18288"/>
              <a:gd name="csX30" fmla="*/ 3120504 w 10853928"/>
              <a:gd name="csY30" fmla="*/ 18288 h 18288"/>
              <a:gd name="csX31" fmla="*/ 2333595 w 10853928"/>
              <a:gd name="csY31" fmla="*/ 18288 h 18288"/>
              <a:gd name="csX32" fmla="*/ 1872303 w 10853928"/>
              <a:gd name="csY32" fmla="*/ 18288 h 18288"/>
              <a:gd name="csX33" fmla="*/ 976854 w 10853928"/>
              <a:gd name="csY33" fmla="*/ 18288 h 18288"/>
              <a:gd name="csX34" fmla="*/ 0 w 10853928"/>
              <a:gd name="csY34" fmla="*/ 18288 h 18288"/>
              <a:gd name="csX35" fmla="*/ 0 w 10853928"/>
              <a:gd name="csY35"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Lst>
            <a:rect l="l" t="t" r="r" b="b"/>
            <a:pathLst>
              <a:path w="10853928" h="18288" fill="none" extrusionOk="0">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w="10853928" h="18288" stroke="0" extrusionOk="0">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7137A397-DC3B-644A-C99A-F144996F9654}"/>
              </a:ext>
            </a:extLst>
          </p:cNvPr>
          <p:cNvSpPr>
            <a:spLocks noGrp="1"/>
          </p:cNvSpPr>
          <p:nvPr>
            <p:ph idx="1"/>
          </p:nvPr>
        </p:nvSpPr>
        <p:spPr>
          <a:xfrm>
            <a:off x="838200" y="1929384"/>
            <a:ext cx="10515600" cy="4251960"/>
          </a:xfrm>
        </p:spPr>
        <p:txBody>
          <a:bodyPr>
            <a:normAutofit/>
          </a:bodyPr>
          <a:lstStyle/>
          <a:p>
            <a:r>
              <a:rPr lang="en-US" sz="2200" dirty="0"/>
              <a:t>Tap into the power of </a:t>
            </a:r>
            <a:r>
              <a:rPr lang="en-US" sz="2200" dirty="0" err="1"/>
              <a:t>PowerFX</a:t>
            </a:r>
            <a:endParaRPr lang="en-US" sz="2200" dirty="0"/>
          </a:p>
          <a:p>
            <a:pPr lvl="1"/>
            <a:r>
              <a:rPr lang="en-US" sz="2200" dirty="0"/>
              <a:t>Business users already familiar</a:t>
            </a:r>
          </a:p>
          <a:p>
            <a:pPr lvl="1"/>
            <a:r>
              <a:rPr lang="en-US" sz="2200" dirty="0"/>
              <a:t>Answers on how-to already on Internet</a:t>
            </a:r>
          </a:p>
          <a:p>
            <a:pPr lvl="1"/>
            <a:r>
              <a:rPr lang="en-US" sz="2200" dirty="0"/>
              <a:t>Co-pilot support</a:t>
            </a:r>
          </a:p>
          <a:p>
            <a:r>
              <a:rPr lang="en-US" sz="2200" dirty="0"/>
              <a:t>Execution at runtime add dynamism to your app</a:t>
            </a:r>
          </a:p>
          <a:p>
            <a:r>
              <a:rPr lang="en-US" sz="2200" dirty="0"/>
              <a:t>Business/Mapping rules</a:t>
            </a:r>
          </a:p>
        </p:txBody>
      </p:sp>
    </p:spTree>
    <p:extLst>
      <p:ext uri="{BB962C8B-B14F-4D97-AF65-F5344CB8AC3E}">
        <p14:creationId xmlns:p14="http://schemas.microsoft.com/office/powerpoint/2010/main" val="144973893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ADEA4B-5943-9C48-48F5-5F88DA6978BD}"/>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A22E6497-D99D-3CE6-FF95-F68AABCA940B}"/>
              </a:ext>
            </a:extLst>
          </p:cNvPr>
          <p:cNvSpPr>
            <a:spLocks noGrp="1"/>
          </p:cNvSpPr>
          <p:nvPr>
            <p:ph type="ctrTitle"/>
          </p:nvPr>
        </p:nvSpPr>
        <p:spPr/>
        <p:txBody>
          <a:bodyPr/>
          <a:lstStyle/>
          <a:p>
            <a:r>
              <a:rPr lang="en-US" dirty="0"/>
              <a:t>Demo</a:t>
            </a:r>
          </a:p>
        </p:txBody>
      </p:sp>
      <p:sp>
        <p:nvSpPr>
          <p:cNvPr id="5" name="Subtitle 4">
            <a:extLst>
              <a:ext uri="{FF2B5EF4-FFF2-40B4-BE49-F238E27FC236}">
                <a16:creationId xmlns:a16="http://schemas.microsoft.com/office/drawing/2014/main" id="{06A25E4E-1025-7E29-9C12-1A362EE35AC1}"/>
              </a:ext>
            </a:extLst>
          </p:cNvPr>
          <p:cNvSpPr>
            <a:spLocks noGrp="1"/>
          </p:cNvSpPr>
          <p:nvPr>
            <p:ph type="subTitle" idx="1"/>
          </p:nvPr>
        </p:nvSpPr>
        <p:spPr/>
        <p:txBody>
          <a:bodyPr/>
          <a:lstStyle/>
          <a:p>
            <a:endParaRPr lang="en-US"/>
          </a:p>
        </p:txBody>
      </p:sp>
    </p:spTree>
    <p:extLst>
      <p:ext uri="{BB962C8B-B14F-4D97-AF65-F5344CB8AC3E}">
        <p14:creationId xmlns:p14="http://schemas.microsoft.com/office/powerpoint/2010/main" val="359127966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9" name="Rectangle 18">
            <a:extLst>
              <a:ext uri="{FF2B5EF4-FFF2-40B4-BE49-F238E27FC236}">
                <a16:creationId xmlns:a16="http://schemas.microsoft.com/office/drawing/2014/main" id="{100EDD19-6802-4EC3-95CE-CFFAB042CF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1C9BAADF-FBD1-96C2-B5CB-49D1AE99E6CC}"/>
              </a:ext>
            </a:extLst>
          </p:cNvPr>
          <p:cNvSpPr>
            <a:spLocks noGrp="1"/>
          </p:cNvSpPr>
          <p:nvPr>
            <p:ph type="title"/>
          </p:nvPr>
        </p:nvSpPr>
        <p:spPr>
          <a:xfrm>
            <a:off x="838200" y="365125"/>
            <a:ext cx="10515600" cy="1325563"/>
          </a:xfrm>
        </p:spPr>
        <p:txBody>
          <a:bodyPr>
            <a:normAutofit/>
          </a:bodyPr>
          <a:lstStyle/>
          <a:p>
            <a:r>
              <a:rPr lang="en-US" sz="4200"/>
              <a:t>How to run the PowerFX interpreter from .NET</a:t>
            </a:r>
          </a:p>
        </p:txBody>
      </p:sp>
      <p:sp>
        <p:nvSpPr>
          <p:cNvPr id="21" name="sketch line">
            <a:extLst>
              <a:ext uri="{FF2B5EF4-FFF2-40B4-BE49-F238E27FC236}">
                <a16:creationId xmlns:a16="http://schemas.microsoft.com/office/drawing/2014/main" id="{DB17E863-922E-4C26-BD64-E8FD41D2866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036" y="1677373"/>
            <a:ext cx="10853928" cy="18288"/>
          </a:xfrm>
          <a:custGeom>
            <a:avLst/>
            <a:gdLst>
              <a:gd name="csX0" fmla="*/ 0 w 10853928"/>
              <a:gd name="csY0" fmla="*/ 0 h 18288"/>
              <a:gd name="csX1" fmla="*/ 461292 w 10853928"/>
              <a:gd name="csY1" fmla="*/ 0 h 18288"/>
              <a:gd name="csX2" fmla="*/ 1139662 w 10853928"/>
              <a:gd name="csY2" fmla="*/ 0 h 18288"/>
              <a:gd name="csX3" fmla="*/ 1926572 w 10853928"/>
              <a:gd name="csY3" fmla="*/ 0 h 18288"/>
              <a:gd name="csX4" fmla="*/ 2279325 w 10853928"/>
              <a:gd name="csY4" fmla="*/ 0 h 18288"/>
              <a:gd name="csX5" fmla="*/ 2632078 w 10853928"/>
              <a:gd name="csY5" fmla="*/ 0 h 18288"/>
              <a:gd name="csX6" fmla="*/ 3527527 w 10853928"/>
              <a:gd name="csY6" fmla="*/ 0 h 18288"/>
              <a:gd name="csX7" fmla="*/ 4205897 w 10853928"/>
              <a:gd name="csY7" fmla="*/ 0 h 18288"/>
              <a:gd name="csX8" fmla="*/ 4558650 w 10853928"/>
              <a:gd name="csY8" fmla="*/ 0 h 18288"/>
              <a:gd name="csX9" fmla="*/ 5237020 w 10853928"/>
              <a:gd name="csY9" fmla="*/ 0 h 18288"/>
              <a:gd name="csX10" fmla="*/ 6132469 w 10853928"/>
              <a:gd name="csY10" fmla="*/ 0 h 18288"/>
              <a:gd name="csX11" fmla="*/ 6702301 w 10853928"/>
              <a:gd name="csY11" fmla="*/ 0 h 18288"/>
              <a:gd name="csX12" fmla="*/ 7272132 w 10853928"/>
              <a:gd name="csY12" fmla="*/ 0 h 18288"/>
              <a:gd name="csX13" fmla="*/ 7950502 w 10853928"/>
              <a:gd name="csY13" fmla="*/ 0 h 18288"/>
              <a:gd name="csX14" fmla="*/ 8737412 w 10853928"/>
              <a:gd name="csY14" fmla="*/ 0 h 18288"/>
              <a:gd name="csX15" fmla="*/ 9524322 w 10853928"/>
              <a:gd name="csY15" fmla="*/ 0 h 18288"/>
              <a:gd name="csX16" fmla="*/ 10853928 w 10853928"/>
              <a:gd name="csY16" fmla="*/ 0 h 18288"/>
              <a:gd name="csX17" fmla="*/ 10853928 w 10853928"/>
              <a:gd name="csY17" fmla="*/ 18288 h 18288"/>
              <a:gd name="csX18" fmla="*/ 10392636 w 10853928"/>
              <a:gd name="csY18" fmla="*/ 18288 h 18288"/>
              <a:gd name="csX19" fmla="*/ 9497187 w 10853928"/>
              <a:gd name="csY19" fmla="*/ 18288 h 18288"/>
              <a:gd name="csX20" fmla="*/ 8818817 w 10853928"/>
              <a:gd name="csY20" fmla="*/ 18288 h 18288"/>
              <a:gd name="csX21" fmla="*/ 8466064 w 10853928"/>
              <a:gd name="csY21" fmla="*/ 18288 h 18288"/>
              <a:gd name="csX22" fmla="*/ 7787693 w 10853928"/>
              <a:gd name="csY22" fmla="*/ 18288 h 18288"/>
              <a:gd name="csX23" fmla="*/ 7217862 w 10853928"/>
              <a:gd name="csY23" fmla="*/ 18288 h 18288"/>
              <a:gd name="csX24" fmla="*/ 6648031 w 10853928"/>
              <a:gd name="csY24" fmla="*/ 18288 h 18288"/>
              <a:gd name="csX25" fmla="*/ 6078200 w 10853928"/>
              <a:gd name="csY25" fmla="*/ 18288 h 18288"/>
              <a:gd name="csX26" fmla="*/ 5508368 w 10853928"/>
              <a:gd name="csY26" fmla="*/ 18288 h 18288"/>
              <a:gd name="csX27" fmla="*/ 4721459 w 10853928"/>
              <a:gd name="csY27" fmla="*/ 18288 h 18288"/>
              <a:gd name="csX28" fmla="*/ 4043088 w 10853928"/>
              <a:gd name="csY28" fmla="*/ 18288 h 18288"/>
              <a:gd name="csX29" fmla="*/ 3690336 w 10853928"/>
              <a:gd name="csY29" fmla="*/ 18288 h 18288"/>
              <a:gd name="csX30" fmla="*/ 3120504 w 10853928"/>
              <a:gd name="csY30" fmla="*/ 18288 h 18288"/>
              <a:gd name="csX31" fmla="*/ 2333595 w 10853928"/>
              <a:gd name="csY31" fmla="*/ 18288 h 18288"/>
              <a:gd name="csX32" fmla="*/ 1872303 w 10853928"/>
              <a:gd name="csY32" fmla="*/ 18288 h 18288"/>
              <a:gd name="csX33" fmla="*/ 976854 w 10853928"/>
              <a:gd name="csY33" fmla="*/ 18288 h 18288"/>
              <a:gd name="csX34" fmla="*/ 0 w 10853928"/>
              <a:gd name="csY34" fmla="*/ 18288 h 18288"/>
              <a:gd name="csX35" fmla="*/ 0 w 10853928"/>
              <a:gd name="csY35"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Lst>
            <a:rect l="l" t="t" r="r" b="b"/>
            <a:pathLst>
              <a:path w="10853928" h="18288" fill="none" extrusionOk="0">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w="10853928" h="18288" stroke="0" extrusionOk="0">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19714051-6D8A-B5CC-084A-649ADEC99D71}"/>
              </a:ext>
            </a:extLst>
          </p:cNvPr>
          <p:cNvSpPr>
            <a:spLocks noGrp="1"/>
          </p:cNvSpPr>
          <p:nvPr>
            <p:ph idx="1"/>
          </p:nvPr>
        </p:nvSpPr>
        <p:spPr>
          <a:xfrm>
            <a:off x="838200" y="1929384"/>
            <a:ext cx="10515600" cy="4251960"/>
          </a:xfrm>
        </p:spPr>
        <p:txBody>
          <a:bodyPr>
            <a:normAutofit/>
          </a:bodyPr>
          <a:lstStyle/>
          <a:p>
            <a:r>
              <a:rPr lang="en-US" sz="2200" dirty="0"/>
              <a:t>Interpreter from Microsoft</a:t>
            </a:r>
          </a:p>
          <a:p>
            <a:pPr lvl="1"/>
            <a:r>
              <a:rPr lang="en-US" sz="2200" dirty="0">
                <a:hlinkClick r:id="rId2"/>
              </a:rPr>
              <a:t>https://github.com/microsoft/Power-Fx</a:t>
            </a:r>
            <a:endParaRPr lang="en-US" sz="2200" dirty="0"/>
          </a:p>
          <a:p>
            <a:r>
              <a:rPr lang="en-US" sz="2200" dirty="0"/>
              <a:t>Microsoft Samples:</a:t>
            </a:r>
          </a:p>
          <a:p>
            <a:pPr lvl="1"/>
            <a:r>
              <a:rPr lang="en-US" sz="2200" dirty="0">
                <a:hlinkClick r:id="rId3"/>
              </a:rPr>
              <a:t>https://github.com/microsoft/power-fx-host-samples</a:t>
            </a:r>
            <a:r>
              <a:rPr lang="en-US" sz="2200" dirty="0"/>
              <a:t> </a:t>
            </a:r>
          </a:p>
          <a:p>
            <a:r>
              <a:rPr lang="en-US" sz="2200" dirty="0"/>
              <a:t>Minimal Sample:</a:t>
            </a:r>
          </a:p>
          <a:p>
            <a:pPr lvl="1"/>
            <a:r>
              <a:rPr lang="en-US" sz="2200" dirty="0">
                <a:hlinkClick r:id="rId4"/>
              </a:rPr>
              <a:t>https://github.com/TheJuanitoLearnsShow/PuppyWorkbooks/blob/main/src/PuppyWorkbooks/5-Presentation/MinimalInterpreterExamples/Program.cs</a:t>
            </a:r>
            <a:endParaRPr lang="en-US" sz="2200" dirty="0"/>
          </a:p>
        </p:txBody>
      </p:sp>
    </p:spTree>
    <p:extLst>
      <p:ext uri="{BB962C8B-B14F-4D97-AF65-F5344CB8AC3E}">
        <p14:creationId xmlns:p14="http://schemas.microsoft.com/office/powerpoint/2010/main" val="82876193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E1EEC2EE-058B-8395-CC11-FB36500DB031}"/>
            </a:ext>
          </a:extLst>
        </p:cNvPr>
        <p:cNvGrpSpPr/>
        <p:nvPr/>
      </p:nvGrpSpPr>
      <p:grpSpPr>
        <a:xfrm>
          <a:off x="0" y="0"/>
          <a:ext cx="0" cy="0"/>
          <a:chOff x="0" y="0"/>
          <a:chExt cx="0" cy="0"/>
        </a:xfrm>
      </p:grpSpPr>
      <p:sp useBgFill="1">
        <p:nvSpPr>
          <p:cNvPr id="19" name="Rectangle 18">
            <a:extLst>
              <a:ext uri="{FF2B5EF4-FFF2-40B4-BE49-F238E27FC236}">
                <a16:creationId xmlns:a16="http://schemas.microsoft.com/office/drawing/2014/main" id="{FF80A3D5-7F77-FF7C-84E0-D770178BE1D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DC8A028F-72EC-7A19-A7FB-0A87C4C1E9D3}"/>
              </a:ext>
            </a:extLst>
          </p:cNvPr>
          <p:cNvSpPr>
            <a:spLocks noGrp="1"/>
          </p:cNvSpPr>
          <p:nvPr>
            <p:ph type="title"/>
          </p:nvPr>
        </p:nvSpPr>
        <p:spPr>
          <a:xfrm>
            <a:off x="838200" y="365125"/>
            <a:ext cx="10515600" cy="1325563"/>
          </a:xfrm>
        </p:spPr>
        <p:txBody>
          <a:bodyPr>
            <a:normAutofit/>
          </a:bodyPr>
          <a:lstStyle/>
          <a:p>
            <a:r>
              <a:rPr lang="en-US" sz="4200" dirty="0"/>
              <a:t>How to run the </a:t>
            </a:r>
            <a:r>
              <a:rPr lang="en-US" sz="4200" dirty="0" err="1"/>
              <a:t>PowerFX</a:t>
            </a:r>
            <a:r>
              <a:rPr lang="en-US" sz="4200" dirty="0"/>
              <a:t> interpreter from .NET</a:t>
            </a:r>
          </a:p>
        </p:txBody>
      </p:sp>
      <p:sp>
        <p:nvSpPr>
          <p:cNvPr id="21" name="sketch line">
            <a:extLst>
              <a:ext uri="{FF2B5EF4-FFF2-40B4-BE49-F238E27FC236}">
                <a16:creationId xmlns:a16="http://schemas.microsoft.com/office/drawing/2014/main" id="{8A32C08A-3FAB-2A97-9BA3-DEB6CA53089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036" y="1677373"/>
            <a:ext cx="10853928" cy="18288"/>
          </a:xfrm>
          <a:custGeom>
            <a:avLst/>
            <a:gdLst>
              <a:gd name="csX0" fmla="*/ 0 w 10853928"/>
              <a:gd name="csY0" fmla="*/ 0 h 18288"/>
              <a:gd name="csX1" fmla="*/ 461292 w 10853928"/>
              <a:gd name="csY1" fmla="*/ 0 h 18288"/>
              <a:gd name="csX2" fmla="*/ 1139662 w 10853928"/>
              <a:gd name="csY2" fmla="*/ 0 h 18288"/>
              <a:gd name="csX3" fmla="*/ 1926572 w 10853928"/>
              <a:gd name="csY3" fmla="*/ 0 h 18288"/>
              <a:gd name="csX4" fmla="*/ 2279325 w 10853928"/>
              <a:gd name="csY4" fmla="*/ 0 h 18288"/>
              <a:gd name="csX5" fmla="*/ 2632078 w 10853928"/>
              <a:gd name="csY5" fmla="*/ 0 h 18288"/>
              <a:gd name="csX6" fmla="*/ 3527527 w 10853928"/>
              <a:gd name="csY6" fmla="*/ 0 h 18288"/>
              <a:gd name="csX7" fmla="*/ 4205897 w 10853928"/>
              <a:gd name="csY7" fmla="*/ 0 h 18288"/>
              <a:gd name="csX8" fmla="*/ 4558650 w 10853928"/>
              <a:gd name="csY8" fmla="*/ 0 h 18288"/>
              <a:gd name="csX9" fmla="*/ 5237020 w 10853928"/>
              <a:gd name="csY9" fmla="*/ 0 h 18288"/>
              <a:gd name="csX10" fmla="*/ 6132469 w 10853928"/>
              <a:gd name="csY10" fmla="*/ 0 h 18288"/>
              <a:gd name="csX11" fmla="*/ 6702301 w 10853928"/>
              <a:gd name="csY11" fmla="*/ 0 h 18288"/>
              <a:gd name="csX12" fmla="*/ 7272132 w 10853928"/>
              <a:gd name="csY12" fmla="*/ 0 h 18288"/>
              <a:gd name="csX13" fmla="*/ 7950502 w 10853928"/>
              <a:gd name="csY13" fmla="*/ 0 h 18288"/>
              <a:gd name="csX14" fmla="*/ 8737412 w 10853928"/>
              <a:gd name="csY14" fmla="*/ 0 h 18288"/>
              <a:gd name="csX15" fmla="*/ 9524322 w 10853928"/>
              <a:gd name="csY15" fmla="*/ 0 h 18288"/>
              <a:gd name="csX16" fmla="*/ 10853928 w 10853928"/>
              <a:gd name="csY16" fmla="*/ 0 h 18288"/>
              <a:gd name="csX17" fmla="*/ 10853928 w 10853928"/>
              <a:gd name="csY17" fmla="*/ 18288 h 18288"/>
              <a:gd name="csX18" fmla="*/ 10392636 w 10853928"/>
              <a:gd name="csY18" fmla="*/ 18288 h 18288"/>
              <a:gd name="csX19" fmla="*/ 9497187 w 10853928"/>
              <a:gd name="csY19" fmla="*/ 18288 h 18288"/>
              <a:gd name="csX20" fmla="*/ 8818817 w 10853928"/>
              <a:gd name="csY20" fmla="*/ 18288 h 18288"/>
              <a:gd name="csX21" fmla="*/ 8466064 w 10853928"/>
              <a:gd name="csY21" fmla="*/ 18288 h 18288"/>
              <a:gd name="csX22" fmla="*/ 7787693 w 10853928"/>
              <a:gd name="csY22" fmla="*/ 18288 h 18288"/>
              <a:gd name="csX23" fmla="*/ 7217862 w 10853928"/>
              <a:gd name="csY23" fmla="*/ 18288 h 18288"/>
              <a:gd name="csX24" fmla="*/ 6648031 w 10853928"/>
              <a:gd name="csY24" fmla="*/ 18288 h 18288"/>
              <a:gd name="csX25" fmla="*/ 6078200 w 10853928"/>
              <a:gd name="csY25" fmla="*/ 18288 h 18288"/>
              <a:gd name="csX26" fmla="*/ 5508368 w 10853928"/>
              <a:gd name="csY26" fmla="*/ 18288 h 18288"/>
              <a:gd name="csX27" fmla="*/ 4721459 w 10853928"/>
              <a:gd name="csY27" fmla="*/ 18288 h 18288"/>
              <a:gd name="csX28" fmla="*/ 4043088 w 10853928"/>
              <a:gd name="csY28" fmla="*/ 18288 h 18288"/>
              <a:gd name="csX29" fmla="*/ 3690336 w 10853928"/>
              <a:gd name="csY29" fmla="*/ 18288 h 18288"/>
              <a:gd name="csX30" fmla="*/ 3120504 w 10853928"/>
              <a:gd name="csY30" fmla="*/ 18288 h 18288"/>
              <a:gd name="csX31" fmla="*/ 2333595 w 10853928"/>
              <a:gd name="csY31" fmla="*/ 18288 h 18288"/>
              <a:gd name="csX32" fmla="*/ 1872303 w 10853928"/>
              <a:gd name="csY32" fmla="*/ 18288 h 18288"/>
              <a:gd name="csX33" fmla="*/ 976854 w 10853928"/>
              <a:gd name="csY33" fmla="*/ 18288 h 18288"/>
              <a:gd name="csX34" fmla="*/ 0 w 10853928"/>
              <a:gd name="csY34" fmla="*/ 18288 h 18288"/>
              <a:gd name="csX35" fmla="*/ 0 w 10853928"/>
              <a:gd name="csY35"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Lst>
            <a:rect l="l" t="t" r="r" b="b"/>
            <a:pathLst>
              <a:path w="10853928" h="18288" fill="none" extrusionOk="0">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w="10853928" h="18288" stroke="0" extrusionOk="0">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DFBFC627-69DC-AD8A-E1DA-A63C6D11291E}"/>
              </a:ext>
            </a:extLst>
          </p:cNvPr>
          <p:cNvSpPr>
            <a:spLocks noGrp="1"/>
          </p:cNvSpPr>
          <p:nvPr>
            <p:ph idx="1"/>
          </p:nvPr>
        </p:nvSpPr>
        <p:spPr>
          <a:xfrm>
            <a:off x="838200" y="1929384"/>
            <a:ext cx="10515600" cy="4251960"/>
          </a:xfrm>
        </p:spPr>
        <p:txBody>
          <a:bodyPr>
            <a:normAutofit/>
          </a:bodyPr>
          <a:lstStyle/>
          <a:p>
            <a:r>
              <a:rPr lang="en-US" sz="2000" dirty="0"/>
              <a:t>Initialize engine</a:t>
            </a:r>
          </a:p>
          <a:p>
            <a:r>
              <a:rPr lang="en-US" sz="2000" dirty="0"/>
              <a:t>Add formulas</a:t>
            </a:r>
          </a:p>
          <a:p>
            <a:r>
              <a:rPr lang="en-US" sz="2000" dirty="0"/>
              <a:t>Evaluate formulas</a:t>
            </a:r>
          </a:p>
        </p:txBody>
      </p:sp>
    </p:spTree>
    <p:extLst>
      <p:ext uri="{BB962C8B-B14F-4D97-AF65-F5344CB8AC3E}">
        <p14:creationId xmlns:p14="http://schemas.microsoft.com/office/powerpoint/2010/main" val="324865816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01C2AC92-2A75-AAF8-1F3C-AC05D484F503}"/>
            </a:ext>
          </a:extLst>
        </p:cNvPr>
        <p:cNvGrpSpPr/>
        <p:nvPr/>
      </p:nvGrpSpPr>
      <p:grpSpPr>
        <a:xfrm>
          <a:off x="0" y="0"/>
          <a:ext cx="0" cy="0"/>
          <a:chOff x="0" y="0"/>
          <a:chExt cx="0" cy="0"/>
        </a:xfrm>
      </p:grpSpPr>
      <p:sp useBgFill="1">
        <p:nvSpPr>
          <p:cNvPr id="19" name="Rectangle 18">
            <a:extLst>
              <a:ext uri="{FF2B5EF4-FFF2-40B4-BE49-F238E27FC236}">
                <a16:creationId xmlns:a16="http://schemas.microsoft.com/office/drawing/2014/main" id="{CCD0DA76-8025-8AB3-FC6E-E892BADBCF7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6AB8F743-8D02-A013-A215-801142BA4795}"/>
              </a:ext>
            </a:extLst>
          </p:cNvPr>
          <p:cNvSpPr>
            <a:spLocks noGrp="1"/>
          </p:cNvSpPr>
          <p:nvPr>
            <p:ph type="title"/>
          </p:nvPr>
        </p:nvSpPr>
        <p:spPr>
          <a:xfrm>
            <a:off x="838200" y="365125"/>
            <a:ext cx="10515600" cy="1325563"/>
          </a:xfrm>
        </p:spPr>
        <p:txBody>
          <a:bodyPr>
            <a:normAutofit/>
          </a:bodyPr>
          <a:lstStyle/>
          <a:p>
            <a:r>
              <a:rPr lang="en-US" sz="4200" dirty="0"/>
              <a:t>How to run the </a:t>
            </a:r>
            <a:r>
              <a:rPr lang="en-US" sz="4200" dirty="0" err="1"/>
              <a:t>PowerFX</a:t>
            </a:r>
            <a:r>
              <a:rPr lang="en-US" sz="4200" dirty="0"/>
              <a:t> interpreter from .NET</a:t>
            </a:r>
          </a:p>
        </p:txBody>
      </p:sp>
      <p:sp>
        <p:nvSpPr>
          <p:cNvPr id="21" name="sketch line">
            <a:extLst>
              <a:ext uri="{FF2B5EF4-FFF2-40B4-BE49-F238E27FC236}">
                <a16:creationId xmlns:a16="http://schemas.microsoft.com/office/drawing/2014/main" id="{997F5DF3-329B-3D3C-9B68-1C35998C9DD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036" y="1677373"/>
            <a:ext cx="10853928" cy="18288"/>
          </a:xfrm>
          <a:custGeom>
            <a:avLst/>
            <a:gdLst>
              <a:gd name="csX0" fmla="*/ 0 w 10853928"/>
              <a:gd name="csY0" fmla="*/ 0 h 18288"/>
              <a:gd name="csX1" fmla="*/ 461292 w 10853928"/>
              <a:gd name="csY1" fmla="*/ 0 h 18288"/>
              <a:gd name="csX2" fmla="*/ 1139662 w 10853928"/>
              <a:gd name="csY2" fmla="*/ 0 h 18288"/>
              <a:gd name="csX3" fmla="*/ 1926572 w 10853928"/>
              <a:gd name="csY3" fmla="*/ 0 h 18288"/>
              <a:gd name="csX4" fmla="*/ 2279325 w 10853928"/>
              <a:gd name="csY4" fmla="*/ 0 h 18288"/>
              <a:gd name="csX5" fmla="*/ 2632078 w 10853928"/>
              <a:gd name="csY5" fmla="*/ 0 h 18288"/>
              <a:gd name="csX6" fmla="*/ 3527527 w 10853928"/>
              <a:gd name="csY6" fmla="*/ 0 h 18288"/>
              <a:gd name="csX7" fmla="*/ 4205897 w 10853928"/>
              <a:gd name="csY7" fmla="*/ 0 h 18288"/>
              <a:gd name="csX8" fmla="*/ 4558650 w 10853928"/>
              <a:gd name="csY8" fmla="*/ 0 h 18288"/>
              <a:gd name="csX9" fmla="*/ 5237020 w 10853928"/>
              <a:gd name="csY9" fmla="*/ 0 h 18288"/>
              <a:gd name="csX10" fmla="*/ 6132469 w 10853928"/>
              <a:gd name="csY10" fmla="*/ 0 h 18288"/>
              <a:gd name="csX11" fmla="*/ 6702301 w 10853928"/>
              <a:gd name="csY11" fmla="*/ 0 h 18288"/>
              <a:gd name="csX12" fmla="*/ 7272132 w 10853928"/>
              <a:gd name="csY12" fmla="*/ 0 h 18288"/>
              <a:gd name="csX13" fmla="*/ 7950502 w 10853928"/>
              <a:gd name="csY13" fmla="*/ 0 h 18288"/>
              <a:gd name="csX14" fmla="*/ 8737412 w 10853928"/>
              <a:gd name="csY14" fmla="*/ 0 h 18288"/>
              <a:gd name="csX15" fmla="*/ 9524322 w 10853928"/>
              <a:gd name="csY15" fmla="*/ 0 h 18288"/>
              <a:gd name="csX16" fmla="*/ 10853928 w 10853928"/>
              <a:gd name="csY16" fmla="*/ 0 h 18288"/>
              <a:gd name="csX17" fmla="*/ 10853928 w 10853928"/>
              <a:gd name="csY17" fmla="*/ 18288 h 18288"/>
              <a:gd name="csX18" fmla="*/ 10392636 w 10853928"/>
              <a:gd name="csY18" fmla="*/ 18288 h 18288"/>
              <a:gd name="csX19" fmla="*/ 9497187 w 10853928"/>
              <a:gd name="csY19" fmla="*/ 18288 h 18288"/>
              <a:gd name="csX20" fmla="*/ 8818817 w 10853928"/>
              <a:gd name="csY20" fmla="*/ 18288 h 18288"/>
              <a:gd name="csX21" fmla="*/ 8466064 w 10853928"/>
              <a:gd name="csY21" fmla="*/ 18288 h 18288"/>
              <a:gd name="csX22" fmla="*/ 7787693 w 10853928"/>
              <a:gd name="csY22" fmla="*/ 18288 h 18288"/>
              <a:gd name="csX23" fmla="*/ 7217862 w 10853928"/>
              <a:gd name="csY23" fmla="*/ 18288 h 18288"/>
              <a:gd name="csX24" fmla="*/ 6648031 w 10853928"/>
              <a:gd name="csY24" fmla="*/ 18288 h 18288"/>
              <a:gd name="csX25" fmla="*/ 6078200 w 10853928"/>
              <a:gd name="csY25" fmla="*/ 18288 h 18288"/>
              <a:gd name="csX26" fmla="*/ 5508368 w 10853928"/>
              <a:gd name="csY26" fmla="*/ 18288 h 18288"/>
              <a:gd name="csX27" fmla="*/ 4721459 w 10853928"/>
              <a:gd name="csY27" fmla="*/ 18288 h 18288"/>
              <a:gd name="csX28" fmla="*/ 4043088 w 10853928"/>
              <a:gd name="csY28" fmla="*/ 18288 h 18288"/>
              <a:gd name="csX29" fmla="*/ 3690336 w 10853928"/>
              <a:gd name="csY29" fmla="*/ 18288 h 18288"/>
              <a:gd name="csX30" fmla="*/ 3120504 w 10853928"/>
              <a:gd name="csY30" fmla="*/ 18288 h 18288"/>
              <a:gd name="csX31" fmla="*/ 2333595 w 10853928"/>
              <a:gd name="csY31" fmla="*/ 18288 h 18288"/>
              <a:gd name="csX32" fmla="*/ 1872303 w 10853928"/>
              <a:gd name="csY32" fmla="*/ 18288 h 18288"/>
              <a:gd name="csX33" fmla="*/ 976854 w 10853928"/>
              <a:gd name="csY33" fmla="*/ 18288 h 18288"/>
              <a:gd name="csX34" fmla="*/ 0 w 10853928"/>
              <a:gd name="csY34" fmla="*/ 18288 h 18288"/>
              <a:gd name="csX35" fmla="*/ 0 w 10853928"/>
              <a:gd name="csY35"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Lst>
            <a:rect l="l" t="t" r="r" b="b"/>
            <a:pathLst>
              <a:path w="10853928" h="18288" fill="none" extrusionOk="0">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w="10853928" h="18288" stroke="0" extrusionOk="0">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4298C200-E2FF-5691-3432-80594D0216C8}"/>
              </a:ext>
            </a:extLst>
          </p:cNvPr>
          <p:cNvSpPr>
            <a:spLocks noGrp="1"/>
          </p:cNvSpPr>
          <p:nvPr>
            <p:ph idx="1"/>
          </p:nvPr>
        </p:nvSpPr>
        <p:spPr>
          <a:xfrm>
            <a:off x="838200" y="1929384"/>
            <a:ext cx="10515600" cy="4251960"/>
          </a:xfrm>
        </p:spPr>
        <p:txBody>
          <a:bodyPr>
            <a:normAutofit/>
          </a:bodyPr>
          <a:lstStyle/>
          <a:p>
            <a:r>
              <a:rPr lang="en-US" sz="2000" dirty="0"/>
              <a:t>Initialize engine</a:t>
            </a:r>
          </a:p>
          <a:p>
            <a:r>
              <a:rPr lang="en-US" sz="2000" dirty="0"/>
              <a:t>Add formulas</a:t>
            </a:r>
          </a:p>
          <a:p>
            <a:r>
              <a:rPr lang="en-US" sz="2000" dirty="0"/>
              <a:t>Evaluate formulas</a:t>
            </a:r>
          </a:p>
        </p:txBody>
      </p:sp>
    </p:spTree>
    <p:extLst>
      <p:ext uri="{BB962C8B-B14F-4D97-AF65-F5344CB8AC3E}">
        <p14:creationId xmlns:p14="http://schemas.microsoft.com/office/powerpoint/2010/main" val="317446746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9AF090-DF03-2D55-E4A9-15476A51D557}"/>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D707CD88-25BF-D5A2-57D4-231B23F3EA15}"/>
              </a:ext>
            </a:extLst>
          </p:cNvPr>
          <p:cNvSpPr>
            <a:spLocks noGrp="1"/>
          </p:cNvSpPr>
          <p:nvPr>
            <p:ph type="ctrTitle"/>
          </p:nvPr>
        </p:nvSpPr>
        <p:spPr/>
        <p:txBody>
          <a:bodyPr/>
          <a:lstStyle/>
          <a:p>
            <a:r>
              <a:rPr lang="en-US" dirty="0"/>
              <a:t>Demo</a:t>
            </a:r>
          </a:p>
        </p:txBody>
      </p:sp>
      <p:sp>
        <p:nvSpPr>
          <p:cNvPr id="5" name="Subtitle 4">
            <a:extLst>
              <a:ext uri="{FF2B5EF4-FFF2-40B4-BE49-F238E27FC236}">
                <a16:creationId xmlns:a16="http://schemas.microsoft.com/office/drawing/2014/main" id="{81CA869E-6C47-8B2D-CD47-CB6FF06E7544}"/>
              </a:ext>
            </a:extLst>
          </p:cNvPr>
          <p:cNvSpPr>
            <a:spLocks noGrp="1"/>
          </p:cNvSpPr>
          <p:nvPr>
            <p:ph type="subTitle" idx="1"/>
          </p:nvPr>
        </p:nvSpPr>
        <p:spPr/>
        <p:txBody>
          <a:bodyPr/>
          <a:lstStyle/>
          <a:p>
            <a:endParaRPr lang="en-US"/>
          </a:p>
        </p:txBody>
      </p:sp>
    </p:spTree>
    <p:extLst>
      <p:ext uri="{BB962C8B-B14F-4D97-AF65-F5344CB8AC3E}">
        <p14:creationId xmlns:p14="http://schemas.microsoft.com/office/powerpoint/2010/main" val="285132065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2E442304-DDBD-4F7B-8017-36BCC863FB4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178DDB28-B859-7EE0-8147-A065102772CE}"/>
              </a:ext>
            </a:extLst>
          </p:cNvPr>
          <p:cNvSpPr>
            <a:spLocks noGrp="1"/>
          </p:cNvSpPr>
          <p:nvPr>
            <p:ph type="title"/>
          </p:nvPr>
        </p:nvSpPr>
        <p:spPr>
          <a:xfrm>
            <a:off x="635000" y="640823"/>
            <a:ext cx="3418659" cy="5583148"/>
          </a:xfrm>
        </p:spPr>
        <p:txBody>
          <a:bodyPr anchor="ctr">
            <a:normAutofit/>
          </a:bodyPr>
          <a:lstStyle/>
          <a:p>
            <a:r>
              <a:rPr lang="en-US" sz="5400"/>
              <a:t>The power of PowerFX in your apps!</a:t>
            </a:r>
          </a:p>
        </p:txBody>
      </p:sp>
      <p:sp>
        <p:nvSpPr>
          <p:cNvPr id="11" name="sketch line">
            <a:extLst>
              <a:ext uri="{FF2B5EF4-FFF2-40B4-BE49-F238E27FC236}">
                <a16:creationId xmlns:a16="http://schemas.microsoft.com/office/drawing/2014/main" id="{5E107275-3853-46FD-A241-DE4355A4267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1627450" y="3462719"/>
            <a:ext cx="5410200" cy="18288"/>
          </a:xfrm>
          <a:custGeom>
            <a:avLst/>
            <a:gdLst>
              <a:gd name="csX0" fmla="*/ 0 w 5410200"/>
              <a:gd name="csY0" fmla="*/ 0 h 18288"/>
              <a:gd name="csX1" fmla="*/ 568071 w 5410200"/>
              <a:gd name="csY1" fmla="*/ 0 h 18288"/>
              <a:gd name="csX2" fmla="*/ 1298448 w 5410200"/>
              <a:gd name="csY2" fmla="*/ 0 h 18288"/>
              <a:gd name="csX3" fmla="*/ 1920621 w 5410200"/>
              <a:gd name="csY3" fmla="*/ 0 h 18288"/>
              <a:gd name="csX4" fmla="*/ 2488692 w 5410200"/>
              <a:gd name="csY4" fmla="*/ 0 h 18288"/>
              <a:gd name="csX5" fmla="*/ 3219069 w 5410200"/>
              <a:gd name="csY5" fmla="*/ 0 h 18288"/>
              <a:gd name="csX6" fmla="*/ 3895344 w 5410200"/>
              <a:gd name="csY6" fmla="*/ 0 h 18288"/>
              <a:gd name="csX7" fmla="*/ 4571619 w 5410200"/>
              <a:gd name="csY7" fmla="*/ 0 h 18288"/>
              <a:gd name="csX8" fmla="*/ 5410200 w 5410200"/>
              <a:gd name="csY8" fmla="*/ 0 h 18288"/>
              <a:gd name="csX9" fmla="*/ 5410200 w 5410200"/>
              <a:gd name="csY9" fmla="*/ 18288 h 18288"/>
              <a:gd name="csX10" fmla="*/ 4842129 w 5410200"/>
              <a:gd name="csY10" fmla="*/ 18288 h 18288"/>
              <a:gd name="csX11" fmla="*/ 4328160 w 5410200"/>
              <a:gd name="csY11" fmla="*/ 18288 h 18288"/>
              <a:gd name="csX12" fmla="*/ 3597783 w 5410200"/>
              <a:gd name="csY12" fmla="*/ 18288 h 18288"/>
              <a:gd name="csX13" fmla="*/ 3029712 w 5410200"/>
              <a:gd name="csY13" fmla="*/ 18288 h 18288"/>
              <a:gd name="csX14" fmla="*/ 2299335 w 5410200"/>
              <a:gd name="csY14" fmla="*/ 18288 h 18288"/>
              <a:gd name="csX15" fmla="*/ 1514856 w 5410200"/>
              <a:gd name="csY15" fmla="*/ 18288 h 18288"/>
              <a:gd name="csX16" fmla="*/ 892683 w 5410200"/>
              <a:gd name="csY16" fmla="*/ 18288 h 18288"/>
              <a:gd name="csX17" fmla="*/ 0 w 5410200"/>
              <a:gd name="csY17" fmla="*/ 18288 h 18288"/>
              <a:gd name="csX18" fmla="*/ 0 w 5410200"/>
              <a:gd name="csY18"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Lst>
            <a:rect l="l" t="t" r="r" b="b"/>
            <a:pathLst>
              <a:path w="5410200" h="18288" fill="none" extrusionOk="0">
                <a:moveTo>
                  <a:pt x="0" y="0"/>
                </a:moveTo>
                <a:cubicBezTo>
                  <a:pt x="163050" y="-18707"/>
                  <a:pt x="319321" y="-16364"/>
                  <a:pt x="568071" y="0"/>
                </a:cubicBezTo>
                <a:cubicBezTo>
                  <a:pt x="816821" y="16364"/>
                  <a:pt x="1013224" y="-7268"/>
                  <a:pt x="1298448" y="0"/>
                </a:cubicBezTo>
                <a:cubicBezTo>
                  <a:pt x="1583672" y="7268"/>
                  <a:pt x="1631711" y="-3367"/>
                  <a:pt x="1920621" y="0"/>
                </a:cubicBezTo>
                <a:cubicBezTo>
                  <a:pt x="2209531" y="3367"/>
                  <a:pt x="2364420" y="-19184"/>
                  <a:pt x="2488692" y="0"/>
                </a:cubicBezTo>
                <a:cubicBezTo>
                  <a:pt x="2612964" y="19184"/>
                  <a:pt x="3023298" y="-34627"/>
                  <a:pt x="3219069" y="0"/>
                </a:cubicBezTo>
                <a:cubicBezTo>
                  <a:pt x="3414840" y="34627"/>
                  <a:pt x="3656810" y="24043"/>
                  <a:pt x="3895344" y="0"/>
                </a:cubicBezTo>
                <a:cubicBezTo>
                  <a:pt x="4133879" y="-24043"/>
                  <a:pt x="4393984" y="-19577"/>
                  <a:pt x="4571619" y="0"/>
                </a:cubicBezTo>
                <a:cubicBezTo>
                  <a:pt x="4749255" y="19577"/>
                  <a:pt x="5179928" y="-6281"/>
                  <a:pt x="5410200" y="0"/>
                </a:cubicBezTo>
                <a:cubicBezTo>
                  <a:pt x="5410730" y="6954"/>
                  <a:pt x="5410934" y="12839"/>
                  <a:pt x="5410200" y="18288"/>
                </a:cubicBezTo>
                <a:cubicBezTo>
                  <a:pt x="5139060" y="6751"/>
                  <a:pt x="5121593" y="31035"/>
                  <a:pt x="4842129" y="18288"/>
                </a:cubicBezTo>
                <a:cubicBezTo>
                  <a:pt x="4562665" y="5541"/>
                  <a:pt x="4448273" y="9487"/>
                  <a:pt x="4328160" y="18288"/>
                </a:cubicBezTo>
                <a:cubicBezTo>
                  <a:pt x="4208047" y="27089"/>
                  <a:pt x="3760936" y="22567"/>
                  <a:pt x="3597783" y="18288"/>
                </a:cubicBezTo>
                <a:cubicBezTo>
                  <a:pt x="3434630" y="14009"/>
                  <a:pt x="3299718" y="33213"/>
                  <a:pt x="3029712" y="18288"/>
                </a:cubicBezTo>
                <a:cubicBezTo>
                  <a:pt x="2759706" y="3363"/>
                  <a:pt x="2640159" y="27394"/>
                  <a:pt x="2299335" y="18288"/>
                </a:cubicBezTo>
                <a:cubicBezTo>
                  <a:pt x="1958511" y="9182"/>
                  <a:pt x="1801186" y="28985"/>
                  <a:pt x="1514856" y="18288"/>
                </a:cubicBezTo>
                <a:cubicBezTo>
                  <a:pt x="1228526" y="7591"/>
                  <a:pt x="1063509" y="-5305"/>
                  <a:pt x="892683" y="18288"/>
                </a:cubicBezTo>
                <a:cubicBezTo>
                  <a:pt x="721857" y="41881"/>
                  <a:pt x="186945" y="-20897"/>
                  <a:pt x="0" y="18288"/>
                </a:cubicBezTo>
                <a:cubicBezTo>
                  <a:pt x="-570" y="9279"/>
                  <a:pt x="132" y="5100"/>
                  <a:pt x="0" y="0"/>
                </a:cubicBezTo>
                <a:close/>
              </a:path>
              <a:path w="5410200" h="18288" stroke="0" extrusionOk="0">
                <a:moveTo>
                  <a:pt x="0" y="0"/>
                </a:moveTo>
                <a:cubicBezTo>
                  <a:pt x="285096" y="-4925"/>
                  <a:pt x="376456" y="22268"/>
                  <a:pt x="622173" y="0"/>
                </a:cubicBezTo>
                <a:cubicBezTo>
                  <a:pt x="867890" y="-22268"/>
                  <a:pt x="1031392" y="7228"/>
                  <a:pt x="1136142" y="0"/>
                </a:cubicBezTo>
                <a:cubicBezTo>
                  <a:pt x="1240892" y="-7228"/>
                  <a:pt x="1561853" y="9877"/>
                  <a:pt x="1920621" y="0"/>
                </a:cubicBezTo>
                <a:cubicBezTo>
                  <a:pt x="2279389" y="-9877"/>
                  <a:pt x="2367255" y="19546"/>
                  <a:pt x="2542794" y="0"/>
                </a:cubicBezTo>
                <a:cubicBezTo>
                  <a:pt x="2718333" y="-19546"/>
                  <a:pt x="2866732" y="-22226"/>
                  <a:pt x="3164967" y="0"/>
                </a:cubicBezTo>
                <a:cubicBezTo>
                  <a:pt x="3463202" y="22226"/>
                  <a:pt x="3568055" y="-2765"/>
                  <a:pt x="3949446" y="0"/>
                </a:cubicBezTo>
                <a:cubicBezTo>
                  <a:pt x="4330837" y="2765"/>
                  <a:pt x="4287895" y="10557"/>
                  <a:pt x="4517517" y="0"/>
                </a:cubicBezTo>
                <a:cubicBezTo>
                  <a:pt x="4747139" y="-10557"/>
                  <a:pt x="5149588" y="8716"/>
                  <a:pt x="5410200" y="0"/>
                </a:cubicBezTo>
                <a:cubicBezTo>
                  <a:pt x="5409517" y="5414"/>
                  <a:pt x="5409480" y="12510"/>
                  <a:pt x="5410200" y="18288"/>
                </a:cubicBezTo>
                <a:cubicBezTo>
                  <a:pt x="5163327" y="41494"/>
                  <a:pt x="5008749" y="10693"/>
                  <a:pt x="4842129" y="18288"/>
                </a:cubicBezTo>
                <a:cubicBezTo>
                  <a:pt x="4675509" y="25883"/>
                  <a:pt x="4433401" y="-615"/>
                  <a:pt x="4165854" y="18288"/>
                </a:cubicBezTo>
                <a:cubicBezTo>
                  <a:pt x="3898308" y="37191"/>
                  <a:pt x="3809032" y="-8710"/>
                  <a:pt x="3543681" y="18288"/>
                </a:cubicBezTo>
                <a:cubicBezTo>
                  <a:pt x="3278330" y="45286"/>
                  <a:pt x="3073876" y="-15917"/>
                  <a:pt x="2759202" y="18288"/>
                </a:cubicBezTo>
                <a:cubicBezTo>
                  <a:pt x="2444528" y="52493"/>
                  <a:pt x="2204144" y="3372"/>
                  <a:pt x="1974723" y="18288"/>
                </a:cubicBezTo>
                <a:cubicBezTo>
                  <a:pt x="1745302" y="33204"/>
                  <a:pt x="1602335" y="31490"/>
                  <a:pt x="1406652" y="18288"/>
                </a:cubicBezTo>
                <a:cubicBezTo>
                  <a:pt x="1210969" y="5086"/>
                  <a:pt x="923948" y="3161"/>
                  <a:pt x="730377" y="18288"/>
                </a:cubicBezTo>
                <a:cubicBezTo>
                  <a:pt x="536806" y="33415"/>
                  <a:pt x="336496" y="-141"/>
                  <a:pt x="0" y="18288"/>
                </a:cubicBezTo>
                <a:cubicBezTo>
                  <a:pt x="-306" y="11061"/>
                  <a:pt x="-655" y="7751"/>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5" name="Content Placeholder 2">
            <a:extLst>
              <a:ext uri="{FF2B5EF4-FFF2-40B4-BE49-F238E27FC236}">
                <a16:creationId xmlns:a16="http://schemas.microsoft.com/office/drawing/2014/main" id="{895758D9-3E9B-F7B8-8790-932AC7060478}"/>
              </a:ext>
            </a:extLst>
          </p:cNvPr>
          <p:cNvGraphicFramePr>
            <a:graphicFrameLocks noGrp="1"/>
          </p:cNvGraphicFramePr>
          <p:nvPr>
            <p:ph idx="1"/>
            <p:extLst>
              <p:ext uri="{D42A27DB-BD31-4B8C-83A1-F6EECF244321}">
                <p14:modId xmlns:p14="http://schemas.microsoft.com/office/powerpoint/2010/main" val="3183306137"/>
              </p:ext>
            </p:extLst>
          </p:nvPr>
        </p:nvGraphicFramePr>
        <p:xfrm>
          <a:off x="4648018" y="640822"/>
          <a:ext cx="6900512" cy="5536141"/>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97715755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110</TotalTime>
  <Words>1613</Words>
  <Application>Microsoft Office PowerPoint</Application>
  <PresentationFormat>Widescreen</PresentationFormat>
  <Paragraphs>128</Paragraphs>
  <Slides>17</Slides>
  <Notes>9</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17</vt:i4>
      </vt:variant>
    </vt:vector>
  </HeadingPairs>
  <TitlesOfParts>
    <vt:vector size="22" baseType="lpstr">
      <vt:lpstr>Aptos</vt:lpstr>
      <vt:lpstr>Aptos Display</vt:lpstr>
      <vt:lpstr>Arial</vt:lpstr>
      <vt:lpstr>Wingdings</vt:lpstr>
      <vt:lpstr>Office Theme</vt:lpstr>
      <vt:lpstr>Embed PowerFX in your .NET Apps!</vt:lpstr>
      <vt:lpstr>Intro</vt:lpstr>
      <vt:lpstr>Today’s Talk</vt:lpstr>
      <vt:lpstr>Once upon a time in Pizzas’R’Us™…</vt:lpstr>
      <vt:lpstr>Problem scenario</vt:lpstr>
      <vt:lpstr>Business Logic vs Other logic</vt:lpstr>
      <vt:lpstr>Solution Research</vt:lpstr>
      <vt:lpstr>Solution Space</vt:lpstr>
      <vt:lpstr>Intro to PowerFX</vt:lpstr>
      <vt:lpstr>Demo</vt:lpstr>
      <vt:lpstr>Why we should consider using PowerFX from our .NET apps</vt:lpstr>
      <vt:lpstr>Demo</vt:lpstr>
      <vt:lpstr>How to run the PowerFX interpreter from .NET</vt:lpstr>
      <vt:lpstr>How to run the PowerFX interpreter from .NET</vt:lpstr>
      <vt:lpstr>How to run the PowerFX interpreter from .NET</vt:lpstr>
      <vt:lpstr>Demo</vt:lpstr>
      <vt:lpstr>The power of PowerFX in your apps!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Juan Pablo Tarquino</dc:creator>
  <cp:lastModifiedBy>Juan Pablo Tarquino</cp:lastModifiedBy>
  <cp:revision>9</cp:revision>
  <dcterms:created xsi:type="dcterms:W3CDTF">2025-10-06T20:39:37Z</dcterms:created>
  <dcterms:modified xsi:type="dcterms:W3CDTF">2026-03-05T03:04:15Z</dcterms:modified>
</cp:coreProperties>
</file>